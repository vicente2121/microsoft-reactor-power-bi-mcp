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21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54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49640" y="594360"/>
            <a:ext cx="2468880" cy="2468880"/>
          </a:xfrm>
          <a:prstGeom prst="ellipse">
            <a:avLst/>
          </a:prstGeom>
          <a:solidFill>
            <a:srgbClr val="00A3E0">
              <a:alpha val="6000"/>
            </a:srgbClr>
          </a:solidFill>
          <a:ln w="25400">
            <a:solidFill>
              <a:srgbClr val="00A3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281160" y="3886200"/>
            <a:ext cx="2057400" cy="2057400"/>
          </a:xfrm>
          <a:prstGeom prst="ellipse">
            <a:avLst/>
          </a:prstGeom>
          <a:solidFill>
            <a:srgbClr val="25A18E">
              <a:alpha val="4000"/>
            </a:srgbClr>
          </a:solidFill>
          <a:ln w="25400">
            <a:solidFill>
              <a:srgbClr val="25A18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MCP local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E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con Excel de ejemplo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23317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a paso para entender qué hace, qué no hace y cómo probar sus tools sin romper el modelo.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84048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96112" y="3959352"/>
            <a:ext cx="6748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Excel → Power BI Desktop → VS Code / Copilot → MCP → Modelo semántico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6199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Actualizado: 23 julio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328036-83AE-FB52-F6FC-394129E2B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6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8"/>
          </a:solidFill>
          <a:ln w="12700">
            <a:solidFill>
              <a:srgbClr val="0B1F3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49640" y="594360"/>
            <a:ext cx="2468880" cy="2468880"/>
          </a:xfrm>
          <a:prstGeom prst="ellipse">
            <a:avLst/>
          </a:prstGeom>
          <a:solidFill>
            <a:srgbClr val="00A3E0">
              <a:alpha val="6000"/>
            </a:srgbClr>
          </a:solidFill>
          <a:ln w="25400">
            <a:solidFill>
              <a:srgbClr val="00A3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281160" y="3886200"/>
            <a:ext cx="2057400" cy="2057400"/>
          </a:xfrm>
          <a:prstGeom prst="ellipse">
            <a:avLst/>
          </a:prstGeom>
          <a:solidFill>
            <a:srgbClr val="25A18E">
              <a:alpha val="4000"/>
            </a:srgbClr>
          </a:solidFill>
          <a:ln w="25400">
            <a:solidFill>
              <a:srgbClr val="25A18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MCP local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DE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con Excel de ejemplo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23317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a paso para entender qué hace, qué no hace y cómo probar sus tools sin romper el modelo.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9808" y="3840480"/>
            <a:ext cx="704088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96112" y="3959352"/>
            <a:ext cx="6748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Excel → Power BI Desktop → VS Code / Copilot → MCP → Modelo semántico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6199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Actualizado: 23 julio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APRENDIZAJE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vas a poder hacer al final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2423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1673352"/>
            <a:ext cx="393192" cy="39319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14400" y="174193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08176" y="1664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Importar el Excel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0976" y="2103120"/>
            <a:ext cx="202082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tablas limpias en Power BI Desktop.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82112" y="2423160"/>
            <a:ext cx="283464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538728" y="1508760"/>
            <a:ext cx="2423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703320" y="1673352"/>
            <a:ext cx="393192" cy="393192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703320" y="174193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97096" y="1664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relaciones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39896" y="2103120"/>
            <a:ext cx="202082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Montar el modelo en estrella: dimensiones → hechos.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71032" y="2423160"/>
            <a:ext cx="283464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327648" y="1508760"/>
            <a:ext cx="2423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492240" y="1673352"/>
            <a:ext cx="393192" cy="393192"/>
          </a:xfrm>
          <a:prstGeom prst="ellipse">
            <a:avLst/>
          </a:prstGeom>
          <a:solidFill>
            <a:srgbClr val="F9B115"/>
          </a:solidFill>
          <a:ln w="12700">
            <a:solidFill>
              <a:srgbClr val="F9B1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92240" y="174193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86016" y="1664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medidas DAX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28816" y="2103120"/>
            <a:ext cx="202082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Ventas, beneficio, margen, presupuesto y crecimiento.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59952" y="2423160"/>
            <a:ext cx="283464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9116568" y="1508760"/>
            <a:ext cx="24231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9281160" y="1673352"/>
            <a:ext cx="393192" cy="3931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281160" y="174193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74936" y="1664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Probar tools MCP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17736" y="2103120"/>
            <a:ext cx="2020824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Inventario, relaciones, medidas, DAX, RLS, transacciones y TMDL.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no es que el MCP “haga magia”. La idea es usarlo como asistente controlado: primero lee, luego propone, tú revisas, y solo después aplica.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2103120" y="5074920"/>
            <a:ext cx="8001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2286000" y="5193792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286000" y="546811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empieces con cambios masivos. Usa una copia del PBIX, mantén confirmaciones activas y pide siempre “muéstrame la propuesta antes de aplicar”.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MCP y qué papel juega Power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es el “enchufe” que permite que una IA use herramientas externas de forma estructurada.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60120" y="211226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donde hablas con la IA. En este caso: Visual Studio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663440" y="211226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468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que decide qué herramienta usar. En este caso: GitHub Copilot Chat.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366760" y="211226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Servidor MCP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66760" y="24688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local que expone tools para leer y modificar el modelo de Power BI.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69080" y="2624328"/>
            <a:ext cx="36576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772400" y="2624328"/>
            <a:ext cx="36576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371600" y="4160520"/>
            <a:ext cx="950976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600200" y="440740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Power BI, el MCP local no es un informe ni un visual: trabaja sobre el modelo semántico.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28800" y="58064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principal: Microsoft Learn y repositorio oficial microsoft/powerbi-modeling-mcp.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RÁPIDA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vs remoto: no los mezcles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194560" cy="62179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86384" y="15544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463040"/>
            <a:ext cx="4754880" cy="62179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980944" y="155448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local de modelado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463040"/>
            <a:ext cx="3749040" cy="62179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35824" y="1554480"/>
            <a:ext cx="3639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remoto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84832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86384" y="2157984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modelo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0" y="2084832"/>
            <a:ext cx="4754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980944" y="2157984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Sí: tablas, columnas, medidas, relaciones, roles…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80960" y="208483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735824" y="2157984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su foco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2706624"/>
            <a:ext cx="21945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86384" y="2779776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datos publicados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2706624"/>
            <a:ext cx="475488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980944" y="2779776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validar DAX en desarrollo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2706624"/>
            <a:ext cx="37490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35824" y="2779776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Sí: preguntas y DAX sobre modelos publicados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3328416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86384" y="3401568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Dónde vive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0" y="3328416"/>
            <a:ext cx="4754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980944" y="3401568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tu máquina, vía stdio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80960" y="3328416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7735824" y="3401568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hospedado en Fabric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3950208"/>
            <a:ext cx="21945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86384" y="4023360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Instalación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3950208"/>
            <a:ext cx="475488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2980944" y="4023360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Code/extensión o Node.js/npx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80960" y="3950208"/>
            <a:ext cx="37490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735824" y="4023360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más ligera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31520" y="4572000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786384" y="4645152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típico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26080" y="4572000"/>
            <a:ext cx="47548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980944" y="4645152"/>
            <a:ext cx="4645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y gobierno del modelo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80960" y="4572000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7735824" y="4645152"/>
            <a:ext cx="3639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conversacional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97280" y="55321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este ejercicio usamos el MCP local porque queremos crear relaciones, medidas y propiedades del modelo.</a:t>
            </a:r>
            <a:endParaRPr lang="en-US" sz="1850" dirty="0"/>
          </a:p>
        </p:txBody>
      </p:sp>
      <p:sp>
        <p:nvSpPr>
          <p:cNvPr id="41" name="Text 39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ENCAJA TODO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 trabajo con tu Excel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97480" y="2148840"/>
            <a:ext cx="960120" cy="0"/>
          </a:xfrm>
          <a:prstGeom prst="line">
            <a:avLst/>
          </a:prstGeom>
          <a:noFill/>
          <a:ln w="20320">
            <a:solidFill>
              <a:srgbClr val="00A3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166360" y="2148840"/>
            <a:ext cx="1005840" cy="0"/>
          </a:xfrm>
          <a:prstGeom prst="line">
            <a:avLst/>
          </a:prstGeom>
          <a:noFill/>
          <a:ln w="20320">
            <a:solidFill>
              <a:srgbClr val="00A3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635240" y="2148840"/>
            <a:ext cx="1005840" cy="0"/>
          </a:xfrm>
          <a:prstGeom prst="line">
            <a:avLst/>
          </a:prstGeom>
          <a:noFill/>
          <a:ln w="20320">
            <a:solidFill>
              <a:srgbClr val="00A3E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623560" y="4096512"/>
            <a:ext cx="0" cy="0"/>
          </a:xfrm>
          <a:prstGeom prst="line">
            <a:avLst/>
          </a:prstGeom>
          <a:noFill/>
          <a:ln w="20320">
            <a:solidFill>
              <a:srgbClr val="25A18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17465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Ejemplo_Power_BI_MCP.xlsx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de origen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611880" y="17465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10312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PBIX abierto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semántico local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97880" y="160020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080760" y="17465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 Code + Copilot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0760" y="210312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y cliente MCP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 en lenguaje natural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160020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549640" y="174650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9B1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MCP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49640" y="210312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 local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de modelado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60520" y="402336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343400" y="41696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3400" y="452628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Apruebas propuestas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confirmas cambios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280160" y="5257800"/>
            <a:ext cx="9646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463040" y="5376672"/>
            <a:ext cx="9281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63040" y="5650992"/>
            <a:ext cx="928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MCP primero se conecta a un modelo Power BI. Para Excel, lo más fiable es importar manualmente o darle una ruta exacta y que cree/edite Power Query.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 PRÁCTICOS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 y qué no puede hacer con un Excel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60120" y="1563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puede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o editar código M si conoce la ruta del archivo.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tablas, particiones y propiedades del modelo.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Crear relaciones, medidas, jerarquías y roles.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Ejecutar DAX para validar resultados.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0" y="15636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asumir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encuentre cualquier Excel de tu PC sin ruta.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resuelva ventanas de credenciales.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actualice siempre los datos en Desktop sin intervención.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diseñe páginas, visuales o layout del informe.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71600" y="470916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517904" y="4828032"/>
            <a:ext cx="91257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Ruta exacta ejemplo: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C:\Datos\Ejemplo_Power_BI_MCP.xlsx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Prompt seguro: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“Crea la consulta Power Query, pero muéstrame el código M antes de aplicarla.”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Preparación antes de abrir el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96112" y="1490472"/>
            <a:ext cx="393192" cy="393192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9611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4813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Descarga el Excel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30266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Guárdalo en una ruta simple. Ejemplo: C:\Datos\Ejemplo_Power_BI_MCP.xlsx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99432" y="1490472"/>
            <a:ext cx="393192" cy="39319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9943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93208" y="14813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Abre Power BI Desktop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36008" y="1920240"/>
            <a:ext cx="30266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un PBIX nuevo o usa una copia. Evita trabajar sobre el archivo final.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8302752" y="1490472"/>
            <a:ext cx="393192" cy="3931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30275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96528" y="148132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 tablas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39328" y="1920240"/>
            <a:ext cx="30266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Obtener datos → Excel. Marca las tablas: Ventas, Productos, Clientes, Tiendas, Calendario y Presupuesto.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896112" y="3410712"/>
            <a:ext cx="393192" cy="393192"/>
          </a:xfrm>
          <a:prstGeom prst="ellipse">
            <a:avLst/>
          </a:prstGeom>
          <a:solidFill>
            <a:srgbClr val="F9B115"/>
          </a:solidFill>
          <a:ln w="12700">
            <a:solidFill>
              <a:srgbClr val="F9B1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96112" y="347929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3401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Guarda el PBIX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2688" y="3840480"/>
            <a:ext cx="30266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Guárdalo como Practica_MCP.pbix y déjalo abierto para que el MCP lo detecte.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34840" y="324612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599432" y="3410712"/>
            <a:ext cx="393192" cy="39319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599432" y="347929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93208" y="3401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Abre VS Code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36008" y="3840480"/>
            <a:ext cx="30266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que GitHub Copilot Chat y Power BI Modeling MCP están activos.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24612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8302752" y="3410712"/>
            <a:ext cx="393192" cy="393192"/>
          </a:xfrm>
          <a:prstGeom prst="ellipse">
            <a:avLst/>
          </a:prstGeom>
          <a:solidFill>
            <a:srgbClr val="0B1F38"/>
          </a:solidFill>
          <a:ln w="12700">
            <a:solidFill>
              <a:srgbClr val="0B1F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302752" y="347929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96528" y="3401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Empieza en lectura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39328" y="3840480"/>
            <a:ext cx="302666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Primeras pruebas: inventario y auditoría, sin cambios. Después pasas a escritura con confirmación.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3000" y="57150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importes “hojas completas” si Power BI detecta tablas: usa las tablas estructuradas del Excel.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 del Excel: modelo en estrella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64992" y="2084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→ *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64992" y="4133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→ *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92440" y="2084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 ←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92440" y="41330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 ←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→ *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10128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* ←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005840" y="16550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Categoría, subcategoría, producto, marca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005840" y="39410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97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Segmento, cliente, ciudad, región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83480" y="2706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de hechos: importe, cantidad, beneficio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15087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9326880" y="16550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Tiendas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2011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Tienda, canal, ciudad, región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0" y="37947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9326880" y="394106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Calendario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0" y="42976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Fecha, año, trimestre, mes, semana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00600" y="480060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83480" y="49194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9B1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Presupuesto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83480" y="5193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mensual por tienda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914400" y="59893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Clave: Ventas y Presupuesto NO se relacionan entre sí. Se comparan a través de Calendario y Tiendas.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 exactas que debes crear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874520" cy="53035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40664" y="1389888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Lado 1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2560320" y="1298448"/>
            <a:ext cx="2057400" cy="53035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615184" y="1389888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2011680" cy="53035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672584" y="138988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Lado muchos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629400" y="1298448"/>
            <a:ext cx="2148840" cy="53035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84264" y="138988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Columna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778240" y="1298448"/>
            <a:ext cx="960120" cy="53035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833104" y="1389888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5800" y="1828800"/>
            <a:ext cx="1874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40664" y="1901952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Calendario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560320" y="1828800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615184" y="190195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617720" y="1828800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672584" y="190195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629400" y="1828800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684264" y="1901952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FechaPedido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778240" y="1828800"/>
            <a:ext cx="960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833104" y="1901952"/>
            <a:ext cx="85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Única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85800" y="2359152"/>
            <a:ext cx="18745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40664" y="2432304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560320" y="2359152"/>
            <a:ext cx="205740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615184" y="2432304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IdProducto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617720" y="2359152"/>
            <a:ext cx="20116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672584" y="24323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629400" y="2359152"/>
            <a:ext cx="21488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684264" y="2432304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IdProducto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778240" y="2359152"/>
            <a:ext cx="9601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8833104" y="2432304"/>
            <a:ext cx="85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Única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85800" y="2889504"/>
            <a:ext cx="1874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740664" y="2962656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2560320" y="2889504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615184" y="296265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IdCliente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617720" y="2889504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672584" y="296265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629400" y="2889504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684264" y="296265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IdCliente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8778240" y="2889504"/>
            <a:ext cx="960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8833104" y="2962656"/>
            <a:ext cx="85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Única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685800" y="3419856"/>
            <a:ext cx="18745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740664" y="3493008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Tiendas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2560320" y="3419856"/>
            <a:ext cx="205740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2615184" y="3493008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IdTienda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4617720" y="3419856"/>
            <a:ext cx="20116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672584" y="34930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629400" y="3419856"/>
            <a:ext cx="21488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6684264" y="3493008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IdTienda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8778240" y="3419856"/>
            <a:ext cx="9601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8833104" y="3493008"/>
            <a:ext cx="85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Única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685800" y="3950208"/>
            <a:ext cx="1874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740664" y="4023360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Calendario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2560320" y="3950208"/>
            <a:ext cx="2057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2615184" y="402336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4617720" y="3950208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672584" y="402336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6629400" y="3950208"/>
            <a:ext cx="2148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6684264" y="402336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FechaMes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8778240" y="3950208"/>
            <a:ext cx="960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8833104" y="4023360"/>
            <a:ext cx="85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Única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685800" y="4480560"/>
            <a:ext cx="18745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740664" y="4553712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Tiendas</a:t>
            </a:r>
            <a:endParaRPr lang="en-US" sz="1080" dirty="0"/>
          </a:p>
        </p:txBody>
      </p:sp>
      <p:sp>
        <p:nvSpPr>
          <p:cNvPr id="66" name="Shape 64"/>
          <p:cNvSpPr/>
          <p:nvPr/>
        </p:nvSpPr>
        <p:spPr>
          <a:xfrm>
            <a:off x="2560320" y="4480560"/>
            <a:ext cx="205740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2615184" y="455371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IdTienda</a:t>
            </a:r>
            <a:endParaRPr lang="en-US" sz="1080" dirty="0"/>
          </a:p>
        </p:txBody>
      </p:sp>
      <p:sp>
        <p:nvSpPr>
          <p:cNvPr id="68" name="Shape 66"/>
          <p:cNvSpPr/>
          <p:nvPr/>
        </p:nvSpPr>
        <p:spPr>
          <a:xfrm>
            <a:off x="4617720" y="4480560"/>
            <a:ext cx="20116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672584" y="45537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</a:t>
            </a:r>
            <a:endParaRPr lang="en-US" sz="1080" dirty="0"/>
          </a:p>
        </p:txBody>
      </p:sp>
      <p:sp>
        <p:nvSpPr>
          <p:cNvPr id="70" name="Shape 68"/>
          <p:cNvSpPr/>
          <p:nvPr/>
        </p:nvSpPr>
        <p:spPr>
          <a:xfrm>
            <a:off x="6629400" y="4480560"/>
            <a:ext cx="214884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6684264" y="4553712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IdTienda</a:t>
            </a:r>
            <a:endParaRPr lang="en-US" sz="1080" dirty="0"/>
          </a:p>
        </p:txBody>
      </p:sp>
      <p:sp>
        <p:nvSpPr>
          <p:cNvPr id="72" name="Shape 70"/>
          <p:cNvSpPr/>
          <p:nvPr/>
        </p:nvSpPr>
        <p:spPr>
          <a:xfrm>
            <a:off x="8778240" y="4480560"/>
            <a:ext cx="96012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8833104" y="4553712"/>
            <a:ext cx="850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Única</a:t>
            </a:r>
            <a:endParaRPr lang="en-US" sz="1080" dirty="0"/>
          </a:p>
        </p:txBody>
      </p:sp>
      <p:sp>
        <p:nvSpPr>
          <p:cNvPr id="74" name="Shape 72"/>
          <p:cNvSpPr/>
          <p:nvPr/>
        </p:nvSpPr>
        <p:spPr>
          <a:xfrm>
            <a:off x="914400" y="5074920"/>
            <a:ext cx="10332720" cy="877824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1060704" y="5193792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Prompt para el MCP: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 estas seis relaciones activas con cardinalidad uno a varios y dirección única desde la dimensión hacia la tabla de hechos.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Antes de aplicar, valida duplicados, tipos de datos y muéstrame la propuesta.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 base para empezar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16586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923544" y="1536192"/>
            <a:ext cx="510235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Ventas Netas = SUM(Ventas[VentaNeta])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Beneficio = SUM(Ventas[Beneficio])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Margen % = DIVIDE([Beneficio], [Ventas Netas])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Unidades = SUM(Ventas[Cantidad])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Pedidos = DISTINCTCOUNT(Ventas[IdVenta])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Ticket Medio = DIVIDE([Ventas Netas], [Pedidos])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508760"/>
            <a:ext cx="4754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675120" y="16550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validar el MCP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las columnas existan.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no haya medidas con el mismo nombre.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el DAX compile.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los formatos sean correctos: moneda, porcentaje y entero.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cada medida tenga descripción.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41605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67512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Buenas prácticas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4663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una tabla _Medidas, mueve ahí las medidas y usa carpetas: Ventas, Rentabilidad, Presupuesto e Inteligencia temporal.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 de presupuesto y tiempo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32104" y="1353312"/>
            <a:ext cx="510235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Presupuesto Ventas =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SUM(Presupuesto[PresupuestoVentas])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Cumplimiento Presupuesto % =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DIVIDE([Ventas Netas], [Presupuesto Ventas])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Desviación Presupuesto =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[Ventas Netas] - [Presupuesto Ventas]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5166360" cy="3337560"/>
          </a:xfrm>
          <a:prstGeom prst="roundRect">
            <a:avLst>
              <a:gd name="adj" fmla="val 219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01384" y="1353312"/>
            <a:ext cx="4873752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Ventas Año Anterior =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CALCULATE([Ventas Netas],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SAMEPERIODLASTYEAR(Calendario[Fecha])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Crecimiento YoY % =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DIVIDE([Ventas Netas] - [Ventas Año Anterior],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[Ventas Año Anterior])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Ventas YTD = TOTALYTD([Ventas Netas], Calendario[Fecha])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1828800" y="51663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011680" y="52852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9B1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usar time intelligence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011680" y="55595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Calendario como tabla de fechas y usa Calendario[Fecha]. También ordena Mes por MesNumero.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hablarle al MCP: patrón seguro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96112" y="1490472"/>
            <a:ext cx="393192" cy="39319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9611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1920240"/>
            <a:ext cx="2249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“Conéctate al archivo Practica_MCP abierto en Power BI Desktop.”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776472" y="1490472"/>
            <a:ext cx="393192" cy="393192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77647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0248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813048" y="1920240"/>
            <a:ext cx="2249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 modifiques nada. Enumera tablas, columnas, relaciones, medidas y particiones.”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132588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656832" y="1490472"/>
            <a:ext cx="393192" cy="393192"/>
          </a:xfrm>
          <a:prstGeom prst="ellipse">
            <a:avLst/>
          </a:prstGeom>
          <a:solidFill>
            <a:srgbClr val="F9B115"/>
          </a:solidFill>
          <a:ln w="12700">
            <a:solidFill>
              <a:srgbClr val="F9B1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65683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50608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Propón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93408" y="1920240"/>
            <a:ext cx="2249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“Muéstrame el plan y el código DAX/M antes de aplicar.”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72600" y="1325880"/>
            <a:ext cx="20574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537192" y="1490472"/>
            <a:ext cx="393192" cy="393192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537192" y="155905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30968" y="14813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573768" y="1920240"/>
            <a:ext cx="16550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“Aplica solo estos cambios. Usa transacción si es compatible.”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011680" y="342900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194560" y="35478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Frase que debes repetir mucho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194560" y="3822192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“Antes de aplicar cambios, muéstrame la propuesta y espera mi confirmación.”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2011680" y="461772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194560" y="47365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Frase que debes evitar al principio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194560" y="5010912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“Haz todos los cambios automáticamente y no me preguntes.”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DE LECTURA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1: inventario y auditoría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89788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23544" y="1353312"/>
            <a:ext cx="5605272" cy="428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Conéctate al archivo "Practica_MCP" abierto en Power BI Desktop.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 realices modificaciones.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Muéstrame: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Nombre del modelo.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Todas las tablas.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Número de columnas por tabla.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Medidas existentes.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Relaciones existentes.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Particiones y origen de cada tabla.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Estadísticas generales del modelo.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40880" y="1325880"/>
            <a:ext cx="4389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223760" y="14721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tools estás probando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18288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relationship_operations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40880" y="352044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223760" y="36667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detectar las tablas del Excel y decir si faltan relaciones, medidas o formatos. No debe modificar nada.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 RELACIONES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2: crear relaciones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32104" y="1307592"/>
            <a:ext cx="6291072" cy="4608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 las seis relaciones del modelo en estrella: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Calendario[Fecha] → Ventas[FechaPedido]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Productos[IdProducto] → Ventas[IdProducto]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Clientes[IdCliente] → Ventas[IdCliente]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Tiendas[IdTienda] → Ventas[IdTienda]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Calendario[Fecha] → Presupuesto[FechaMes]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Tiendas[IdTienda] → Presupuesto[IdTienda]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Todas activas, 1:* y filtro único.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 relaciones Ventas directamente con Presupuesto.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Valida duplicados y tipos antes de aplicar.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7635240" y="141732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818120" y="1563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 después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18120" y="19202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Seis relaciones activas.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Ninguna relación muchos a muchos.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Calendario filtra Ventas y Presupuesto.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Tiendas filtra Ventas y Presupuesto.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39776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18120" y="41239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típico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18120" y="4480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Power BI detecta relaciones automáticas incorrectas, pide al MCP que las liste primero y que no elimine nada sin confirmación.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DE MODELADO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3: medidas, formatos y jerarquías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943600" cy="3794760"/>
          </a:xfrm>
          <a:prstGeom prst="roundRect">
            <a:avLst>
              <a:gd name="adj" fmla="val 192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23544" y="1444752"/>
            <a:ext cx="5650992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 las medidas de ventas, beneficio, margen, unidades, pedidos, ticket medio, presupuesto y crecimiento interanual.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Después: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Valida cada expresión DAX.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Aplica formato de moneda a importes.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Aplica formato porcentual a Margen % y Cumplimiento %.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Oculta columnas Id técnicas.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Ordena Calendario[Mes] por Calendario[MesNumero].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Crea la jerarquía Año &gt; Trimestre &gt; Mes &gt; Fecha.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86600" y="150876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269480" y="1655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probadas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69480" y="20116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user_hierarchy_operations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calendar_operations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342900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269480" y="3575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rápida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69480" y="3931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 una tabla visual con AñoMes, Ventas Netas, Beneficio, Margen %, Presupuesto y Cumplimiento. Los valores deben cambiar al filtrar por Tienda o Región.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DAX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4: consulta DAX para validar todo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23544" y="1353312"/>
            <a:ext cx="5193792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Genera y ejecuta una consulta DAX que devuelva por Año y Mes: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Ventas Netas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Beneficio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Margen 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Presupuesto Ventas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Cumplimiento Presupuesto 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Ventas Año Anterior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- Crecimiento YoY %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Ordena cronológicamente. Antes de ejecutarla, muéstrame el DAX. Después comprueba errores y valores extraños.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12280" y="1325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estás comprobando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4593946"/>
            <a:ext cx="329184" cy="1075334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12280" y="57424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616952" y="4344314"/>
            <a:ext cx="329184" cy="1324966"/>
          </a:xfrm>
          <a:prstGeom prst="rect">
            <a:avLst/>
          </a:prstGeom>
          <a:solidFill>
            <a:srgbClr val="25A1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525512" y="57424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Feb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330184" y="4536338"/>
            <a:ext cx="329184" cy="1132942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38744" y="57424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43416" y="4152290"/>
            <a:ext cx="329184" cy="1516990"/>
          </a:xfrm>
          <a:prstGeom prst="rect">
            <a:avLst/>
          </a:prstGeom>
          <a:solidFill>
            <a:srgbClr val="25A1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8951976" y="57424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Abr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756648" y="4363517"/>
            <a:ext cx="329184" cy="1305763"/>
          </a:xfrm>
          <a:prstGeom prst="rect">
            <a:avLst/>
          </a:prstGeom>
          <a:solidFill>
            <a:srgbClr val="00A3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9665208" y="57424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May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29400" y="1737360"/>
            <a:ext cx="4617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812280" y="188366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de modelo correcto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240280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Meses ordenados cronológicamente.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Presupuesto aparece por mes.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Filtrar tienda afecta ventas y presupuesto.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crecimiento YoY solo aparece cuando hay año anterior.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LO BÁSICO FUNCIONA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avanzadas de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828800" cy="62179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32104" y="14173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325880"/>
            <a:ext cx="8229600" cy="621792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660904" y="141732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práctico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32104" y="2020824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606040" y="194767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60904" y="2020824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rol “Solo Región Centro” con filtro Tiendas[Región] = "Centro".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" y="2569464"/>
            <a:ext cx="18288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32104" y="2642616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Transacción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606040" y="2569464"/>
            <a:ext cx="82296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660904" y="2642616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medida temporal, validar, hacer rollback y comprobar que desaparece.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77240" y="3191256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32104" y="3264408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cálculo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2606040" y="3191256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660904" y="3264408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Actual, Año anterior, Variación y Variación %. Guardar copia antes.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77240" y="3813048"/>
            <a:ext cx="18288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32104" y="3886200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TMDL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2606040" y="3813048"/>
            <a:ext cx="82296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660904" y="3886200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Exportar definición del modelo a una carpeta para revisión/versionado.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77240" y="4434840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32104" y="4507992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Traducciones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2606040" y="4434840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2660904" y="4507992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Añadir cultura en-US y traducir tablas/medidas sin cambiar nombres originales.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1371600" y="5349240"/>
            <a:ext cx="9509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554480" y="546811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9B1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recomendado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554480" y="5742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empieces por calculation groups ni TMDL. Primero domina inventario → relaciones → medidas → DAX query → formatos.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 TRANSACCIONES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para probar rollback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6400800" cy="4983480"/>
          </a:xfrm>
          <a:prstGeom prst="roundRect">
            <a:avLst>
              <a:gd name="adj" fmla="val 146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23544" y="1353312"/>
            <a:ext cx="610819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Inicia una transacción.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Dentro de la transacción: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Crea una medida temporal llamada Prueba MCP.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Usa esta expresión: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Prueba MCP = COUNTROWS(Ventas)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Valida la medida.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4. Comprueba que aparece en el modelo.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5. No confirmes la transacción.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6. Ejecuta rollback.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7. Verifica que la medida Prueba MCP ya no existe.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Descríbeme cada paso y el estado de la transacción.</a:t>
            </a:r>
            <a:endParaRPr lang="en-US" sz="1170" dirty="0"/>
          </a:p>
        </p:txBody>
      </p:sp>
      <p:sp>
        <p:nvSpPr>
          <p:cNvPr id="6" name="Shape 4"/>
          <p:cNvSpPr/>
          <p:nvPr/>
        </p:nvSpPr>
        <p:spPr>
          <a:xfrm>
            <a:off x="7543800" y="14173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26680" y="15636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A1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 útil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26680" y="1920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 enseña a comprobar que el MCP puede agrupar cambios y deshacerlos si algo falla o si no apruebas el resultado.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43800" y="306324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26680" y="32095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pasar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6680" y="35661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final, la medida “Prueba MCP” no debe existir en el modelo. Si existe, no hubo rollback real.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GUIADO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práctico completo para copiar y pegar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5166360"/>
          </a:xfrm>
          <a:prstGeom prst="roundRect">
            <a:avLst>
              <a:gd name="adj" fmla="val 141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40664" y="1261872"/>
            <a:ext cx="10725912" cy="4928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Conéctate al modelo "Practica_MCP" abierto en Power BI Desktop.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Quiero convertirlo en un modelo semántico profesional de análisis comercial.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FASE 1 — Auditoría: inspecciona tablas, columnas, medidas, relaciones y particiones. No modifiques nada.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FASE 2 — Modelo: crea las seis relaciones del modelo en estrella. No relaciones Ventas con Presupuesto.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FASE 3 — Medidas: crea ventas, beneficio, margen, unidades, pedidos, ticket medio, presupuesto y crecimiento YoY.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FASE 4 — Organización: oculta Id, ordena meses/días, crea jerarquías y carpetas de medidas.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FASE 5 — Seguridad: crea rol Solo Región Centro y valida con una consulta DAX.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FASE 6 — Validación: ejecuta una consulta mensual de ventas contra presupuesto y entrega informe.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Detente al final de cada fase y solicita mi aprobación antes de continuar.</a:t>
            </a:r>
            <a:endParaRPr lang="en-US" sz="1040" dirty="0"/>
          </a:p>
        </p:txBody>
      </p:sp>
      <p:sp>
        <p:nvSpPr>
          <p:cNvPr id="6" name="Text 4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seguridad antes de aplicar cambios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292608" cy="292608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50976" y="140817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53312" y="132588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Copia del PBIX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53312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sobre Practica_MCP.pbix, no sobre producción.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292608" cy="292608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300216" y="140817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02552" y="132588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Confirmaciones activas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02552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--skipconfirmation hasta dominar el flujo.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2697480"/>
            <a:ext cx="292608" cy="292608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50976" y="27340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5176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auditoría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53312" y="2971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leer y proponer antes de modificar.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697480"/>
            <a:ext cx="292608" cy="292608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300216" y="273405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02552" y="265176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Rutas y credenciales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02552" y="2971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Excel local, usa ruta clara y valida permisos.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023360"/>
            <a:ext cx="292608" cy="292608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950976" y="405993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53312" y="397764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DAX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353312" y="4297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medida debe compilar y tener resultado razonable.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023360"/>
            <a:ext cx="292608" cy="292608"/>
          </a:xfrm>
          <a:prstGeom prst="ellipse">
            <a:avLst/>
          </a:prstGeom>
          <a:solidFill>
            <a:srgbClr val="25A18E"/>
          </a:solidFill>
          <a:ln w="12700">
            <a:solidFill>
              <a:srgbClr val="25A1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300216" y="4059936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02552" y="3977640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visuales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702552" y="4297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MCP local no diseña páginas ni layout del informe.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463040" y="5532120"/>
            <a:ext cx="9326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645920" y="5650992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D64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final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645920" y="5925312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MCP acelera mucho, pero tú sigues siendo responsable del modelo. Revisa DAX, relaciones, seguridad y privacidad antes de publicar.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y cómo resolverlos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103120" cy="585216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9224" y="141732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Síntoma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325880"/>
            <a:ext cx="3017520" cy="585216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52344" y="1417320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 probable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15000" y="1325880"/>
            <a:ext cx="5394960" cy="585216"/>
          </a:xfrm>
          <a:prstGeom prst="rect">
            <a:avLst/>
          </a:prstGeom>
          <a:solidFill>
            <a:srgbClr val="0B1F38"/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769864" y="1417320"/>
            <a:ext cx="5285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11096"/>
            <a:ext cx="2103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9224" y="19842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conecta al PBIX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697480" y="1911096"/>
            <a:ext cx="3017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752344" y="198424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archivo distinto o Desktop cerrado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715000" y="1911096"/>
            <a:ext cx="5394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769864" y="198424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el PBIX y usa el nombre exacto sin extensión si hace falta.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94360" y="2496312"/>
            <a:ext cx="210312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9224" y="25694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 el Excel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697480" y="2496312"/>
            <a:ext cx="301752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752344" y="2569464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MCP no conoce la ruta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715000" y="2496312"/>
            <a:ext cx="539496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769864" y="2569464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Dale la ruta absoluta o importa manualmente primero.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94360" y="3081528"/>
            <a:ext cx="2103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49224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muchos a muchos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2697480" y="3081528"/>
            <a:ext cx="3017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752344" y="31546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Duplicados en el lado 1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715000" y="3081528"/>
            <a:ext cx="5394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769864" y="3154680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validar claves únicas antes de crear relaciones.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94360" y="3666744"/>
            <a:ext cx="210312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49224" y="373989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 compila pero da mal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697480" y="3666744"/>
            <a:ext cx="301752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2752344" y="373989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de filtro incorrecto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715000" y="3666744"/>
            <a:ext cx="539496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769864" y="373989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 con consultas DAX y casos conocidos.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94360" y="4251960"/>
            <a:ext cx="21031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49224" y="43251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actualiza datos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2697480" y="4251960"/>
            <a:ext cx="30175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2752344" y="432511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Limitación de Desktop/origen local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715000" y="4251960"/>
            <a:ext cx="5394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769864" y="4325112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Pulsa Actualizar o revisa gateway/cloud al publicar.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188720" y="5623560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1371600" y="5742432"/>
            <a:ext cx="9509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9B1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algo falle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1371600" y="6016752"/>
            <a:ext cx="9509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siempre: “explica qué tool intentaste usar, qué error devolvió y qué cambio mínimo propones para resolverlo”.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práctica Power BI MCP local + Excel</a:t>
            </a:r>
            <a:endParaRPr lang="en-US" sz="8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y notas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60704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1049" indent="-11049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— Overview of the Power BI MCP servers (Preview): local para construir/modificar modelos; remoto para consultar datos.</a:t>
            </a:r>
            <a:endParaRPr lang="en-US" sz="1450" dirty="0"/>
          </a:p>
          <a:p>
            <a:pPr marL="11049" indent="-11049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— microsoft/powerbi-modeling-mcp: instalación, herramientas, confirmaciones, opciones --readonly / --skipconfirmation y limitaciones.</a:t>
            </a:r>
            <a:endParaRPr lang="en-US" sz="1450" dirty="0"/>
          </a:p>
          <a:p>
            <a:pPr marL="11049" indent="-11049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— External Tools in Power BI Desktop: sincronización de metadatos y limitación de comandos de procesamiento en Desktop.</a:t>
            </a:r>
            <a:endParaRPr lang="en-US" sz="1450" dirty="0"/>
          </a:p>
          <a:p>
            <a:pPr marL="11049" indent="-11049">
              <a:buSzPct val="100000"/>
              <a:buChar char="•"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de uso: el Excel de práctica es sintético y sirve para importación, relaciones, medidas DAX, RLS y validación.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969264" y="4096512"/>
            <a:ext cx="10314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Enlaces: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https://learn.microsoft.com/en-us/power-bi/developer/mcp/mcp-servers-overview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https://github.com/microsoft/powerbi-modeling-mcp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https://learn.microsoft.com/en-us/power-bi/transform-model/desktop-external-tools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914400" y="57424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 paso recomendado: abre el PBIX, conecta el MCP en modo lectura y ejecuta la prueba 1.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revisadas el 23 julio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2906</Words>
  <Application>Microsoft Office PowerPoint</Application>
  <PresentationFormat>Panorámica</PresentationFormat>
  <Paragraphs>492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Cascadia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MCP local: guía paso a paso</dc:title>
  <dc:subject>Guía práctica de Power BI Modeling MCP con Excel de ejemplo</dc:subject>
  <dc:creator>OpenAI</dc:creator>
  <cp:lastModifiedBy>vicente antonio juan magallanes</cp:lastModifiedBy>
  <cp:revision>3</cp:revision>
  <dcterms:created xsi:type="dcterms:W3CDTF">2026-07-23T17:47:57Z</dcterms:created>
  <dcterms:modified xsi:type="dcterms:W3CDTF">2026-07-27T15:18:00Z</dcterms:modified>
</cp:coreProperties>
</file>