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redentials/certifications/resources/study-guides/dp-60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redentials/certifications/resources/study-guides/dp-60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redentials/certifications/resources/study-guides/dp-60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power-bi/guidance/star-schema"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engineering/lakehouse-notebook-load-dat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redentials/certifications/resources/study-guides/dp-60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redentials/certifications/resources/study-guides/dp-60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engineering/lakehouse-notebook-load-data"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engineering/lakehouse-notebook-load-data"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engineering/lakehouse-notebook-load-dat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engineering/lakehouse-notebook-load-data"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engineering/lakehouse-and-delta-table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redentials/certifications/resources/study-guides/dp-60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redentials/certifications/resources/study-guides/dp-60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engineering/lakehouse-and-delta-table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engineering/lakehouse-and-delta-table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engineering/lakehouse-and-delta-table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engineering/lakehouse-and-delta-table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engineering/lakehouse-and-delta-table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engineering/lakehouse-and-delta-table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engineering/lakehouse-and-delta-table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warehouse/data-warehousin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redentials/certifications/resources/study-guides/dp-60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redentials/certifications/resources/study-guides/dp-60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warehouse/data-warehousing"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warehouse/data-warehousin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warehouse/data-warehousing"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warehouse/data-warehousin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warehouse/data-warehousin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warehouse/data-warehousing"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warehouse/data-warehousing"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warehouse/data-warehousing"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warehouse/data-warehousing"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power-bi/guidance/star-schema"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redentials/certifications/resources/study-guides/dp-600"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redentials/certifications/resources/study-guides/dp-600"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dax/"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redentials/certifications/resources/study-guides/dp-600"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redentials/certifications/resources/study-guides/dp-600"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credentials/certifications/resources/study-guides/dp-600"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0080"/>
            <a:ext cx="5303520" cy="274320"/>
          </a:xfrm>
          <a:prstGeom prst="rect">
            <a:avLst/>
          </a:prstGeom>
          <a:noFill/>
        </p:spPr>
        <p:txBody>
          <a:bodyPr wrap="square">
            <a:normAutofit/>
          </a:bodyPr>
          <a:lstStyle/>
          <a:p>
            <a:r>
              <a:rPr sz="1100" b="1">
                <a:solidFill>
                  <a:srgbClr val="82E0E5"/>
                </a:solidFill>
                <a:latin typeface="Segoe UI"/>
              </a:rPr>
              <a:t>SESION 7 · DATA DAYS DP-600</a:t>
            </a:r>
          </a:p>
        </p:txBody>
      </p:sp>
      <p:sp>
        <p:nvSpPr>
          <p:cNvPr id="4" name="TextBox 3"/>
          <p:cNvSpPr txBox="1"/>
          <p:nvPr/>
        </p:nvSpPr>
        <p:spPr>
          <a:xfrm>
            <a:off x="658368" y="1225296"/>
            <a:ext cx="6035040" cy="1243584"/>
          </a:xfrm>
          <a:prstGeom prst="rect">
            <a:avLst/>
          </a:prstGeom>
          <a:noFill/>
        </p:spPr>
        <p:txBody>
          <a:bodyPr wrap="square">
            <a:normAutofit/>
          </a:bodyPr>
          <a:lstStyle/>
          <a:p>
            <a:r>
              <a:rPr sz="3200" b="1">
                <a:solidFill>
                  <a:srgbClr val="FFFFFF"/>
                </a:solidFill>
                <a:latin typeface="Segoe UI"/>
              </a:rPr>
              <a:t>Caso final con pasos
y codigo completo</a:t>
            </a:r>
          </a:p>
        </p:txBody>
      </p:sp>
      <p:sp>
        <p:nvSpPr>
          <p:cNvPr id="5" name="TextBox 4"/>
          <p:cNvSpPr txBox="1"/>
          <p:nvPr/>
        </p:nvSpPr>
        <p:spPr>
          <a:xfrm>
            <a:off x="685800" y="2971800"/>
            <a:ext cx="5394960" cy="731520"/>
          </a:xfrm>
          <a:prstGeom prst="rect">
            <a:avLst/>
          </a:prstGeom>
          <a:noFill/>
        </p:spPr>
        <p:txBody>
          <a:bodyPr wrap="square">
            <a:normAutofit/>
          </a:bodyPr>
          <a:lstStyle/>
          <a:p>
            <a:r>
              <a:rPr sz="1600" b="0">
                <a:solidFill>
                  <a:srgbClr val="DBE6F1"/>
                </a:solidFill>
                <a:latin typeface="Segoe UI"/>
              </a:rPr>
              <a:t>CSV manual a Delta, Silver limpio, Warehouse Gold, modelo dimensional y medidas DAX.</a:t>
            </a:r>
          </a:p>
        </p:txBody>
      </p:sp>
      <p:sp>
        <p:nvSpPr>
          <p:cNvPr id="6" name="TextBox 5"/>
          <p:cNvSpPr txBox="1"/>
          <p:nvPr/>
        </p:nvSpPr>
        <p:spPr>
          <a:xfrm>
            <a:off x="685800" y="5321808"/>
            <a:ext cx="5394960" cy="274320"/>
          </a:xfrm>
          <a:prstGeom prst="rect">
            <a:avLst/>
          </a:prstGeom>
          <a:noFill/>
        </p:spPr>
        <p:txBody>
          <a:bodyPr wrap="square">
            <a:normAutofit/>
          </a:bodyPr>
          <a:lstStyle/>
          <a:p>
            <a:r>
              <a:rPr sz="1100" b="1">
                <a:solidFill>
                  <a:srgbClr val="FFFFFF"/>
                </a:solidFill>
                <a:latin typeface="Segoe UI"/>
              </a:rPr>
              <a:t>Bronze · Silver · Gold · Semantic model</a:t>
            </a:r>
          </a:p>
        </p:txBody>
      </p:sp>
      <p:sp>
        <p:nvSpPr>
          <p:cNvPr id="7" name="Rounded Rectangle 6"/>
          <p:cNvSpPr/>
          <p:nvPr/>
        </p:nvSpPr>
        <p:spPr>
          <a:xfrm>
            <a:off x="6400800" y="868680"/>
            <a:ext cx="4983480" cy="4526280"/>
          </a:xfrm>
          <a:prstGeom prst="roundRect">
            <a:avLst/>
          </a:prstGeom>
          <a:solidFill>
            <a:srgbClr val="FFFFFF"/>
          </a:solidFill>
          <a:ln>
            <a:solidFill>
              <a:srgbClr val="7DBC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93408" y="1143000"/>
            <a:ext cx="4389120" cy="320040"/>
          </a:xfrm>
          <a:prstGeom prst="rect">
            <a:avLst/>
          </a:prstGeom>
          <a:noFill/>
        </p:spPr>
        <p:txBody>
          <a:bodyPr wrap="square">
            <a:normAutofit/>
          </a:bodyPr>
          <a:lstStyle/>
          <a:p>
            <a:r>
              <a:rPr sz="2000" b="1">
                <a:solidFill>
                  <a:srgbClr val="142640"/>
                </a:solidFill>
                <a:latin typeface="Segoe UI"/>
              </a:rPr>
              <a:t>Flujo final</a:t>
            </a:r>
          </a:p>
        </p:txBody>
      </p:sp>
      <p:sp>
        <p:nvSpPr>
          <p:cNvPr id="9" name="Rounded Rectangle 8"/>
          <p:cNvSpPr/>
          <p:nvPr/>
        </p:nvSpPr>
        <p:spPr>
          <a:xfrm>
            <a:off x="6711696" y="1691640"/>
            <a:ext cx="4370832" cy="530352"/>
          </a:xfrm>
          <a:prstGeom prst="roundRect">
            <a:avLst/>
          </a:prstGeom>
          <a:solidFill>
            <a:srgbClr val="F8FCFD"/>
          </a:solidFill>
          <a:ln>
            <a:solidFill>
              <a:srgbClr val="00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03720" y="1801368"/>
            <a:ext cx="1143000" cy="182880"/>
          </a:xfrm>
          <a:prstGeom prst="rect">
            <a:avLst/>
          </a:prstGeom>
          <a:noFill/>
        </p:spPr>
        <p:txBody>
          <a:bodyPr wrap="square">
            <a:normAutofit/>
          </a:bodyPr>
          <a:lstStyle/>
          <a:p>
            <a:r>
              <a:rPr sz="1050" b="1">
                <a:solidFill>
                  <a:srgbClr val="00788C"/>
                </a:solidFill>
                <a:latin typeface="Segoe UI"/>
              </a:rPr>
              <a:t>CSV</a:t>
            </a:r>
          </a:p>
        </p:txBody>
      </p:sp>
      <p:sp>
        <p:nvSpPr>
          <p:cNvPr id="11" name="TextBox 10"/>
          <p:cNvSpPr txBox="1"/>
          <p:nvPr/>
        </p:nvSpPr>
        <p:spPr>
          <a:xfrm>
            <a:off x="7936992" y="1801368"/>
            <a:ext cx="2971800" cy="182880"/>
          </a:xfrm>
          <a:prstGeom prst="rect">
            <a:avLst/>
          </a:prstGeom>
          <a:noFill/>
        </p:spPr>
        <p:txBody>
          <a:bodyPr wrap="square">
            <a:normAutofit/>
          </a:bodyPr>
          <a:lstStyle/>
          <a:p>
            <a:r>
              <a:rPr sz="1050" b="1">
                <a:solidFill>
                  <a:srgbClr val="232B38"/>
                </a:solidFill>
                <a:latin typeface="Segoe UI"/>
              </a:rPr>
              <a:t>Files/landing</a:t>
            </a:r>
          </a:p>
        </p:txBody>
      </p:sp>
      <p:sp>
        <p:nvSpPr>
          <p:cNvPr id="12" name="Rounded Rectangle 11"/>
          <p:cNvSpPr/>
          <p:nvPr/>
        </p:nvSpPr>
        <p:spPr>
          <a:xfrm>
            <a:off x="6711696" y="2377440"/>
            <a:ext cx="4370832" cy="530352"/>
          </a:xfrm>
          <a:prstGeom prst="roundRect">
            <a:avLst/>
          </a:prstGeom>
          <a:solidFill>
            <a:srgbClr val="F8FCFD"/>
          </a:solidFill>
          <a:ln>
            <a:solidFill>
              <a:srgbClr val="3467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2487168"/>
            <a:ext cx="1143000" cy="182880"/>
          </a:xfrm>
          <a:prstGeom prst="rect">
            <a:avLst/>
          </a:prstGeom>
          <a:noFill/>
        </p:spPr>
        <p:txBody>
          <a:bodyPr wrap="square">
            <a:normAutofit/>
          </a:bodyPr>
          <a:lstStyle/>
          <a:p>
            <a:r>
              <a:rPr sz="1050" b="1">
                <a:solidFill>
                  <a:srgbClr val="3467B8"/>
                </a:solidFill>
                <a:latin typeface="Segoe UI"/>
              </a:rPr>
              <a:t>Notebook</a:t>
            </a:r>
          </a:p>
        </p:txBody>
      </p:sp>
      <p:sp>
        <p:nvSpPr>
          <p:cNvPr id="14" name="TextBox 13"/>
          <p:cNvSpPr txBox="1"/>
          <p:nvPr/>
        </p:nvSpPr>
        <p:spPr>
          <a:xfrm>
            <a:off x="7936992" y="2487168"/>
            <a:ext cx="2971800" cy="182880"/>
          </a:xfrm>
          <a:prstGeom prst="rect">
            <a:avLst/>
          </a:prstGeom>
          <a:noFill/>
        </p:spPr>
        <p:txBody>
          <a:bodyPr wrap="square">
            <a:normAutofit/>
          </a:bodyPr>
          <a:lstStyle/>
          <a:p>
            <a:r>
              <a:rPr sz="1050" b="1">
                <a:solidFill>
                  <a:srgbClr val="232B38"/>
                </a:solidFill>
                <a:latin typeface="Segoe UI"/>
              </a:rPr>
              <a:t>ventas360_delta_unica</a:t>
            </a:r>
          </a:p>
        </p:txBody>
      </p:sp>
      <p:sp>
        <p:nvSpPr>
          <p:cNvPr id="15" name="Rounded Rectangle 14"/>
          <p:cNvSpPr/>
          <p:nvPr/>
        </p:nvSpPr>
        <p:spPr>
          <a:xfrm>
            <a:off x="6711696" y="3063240"/>
            <a:ext cx="4370832" cy="530352"/>
          </a:xfrm>
          <a:prstGeom prst="roundRect">
            <a:avLst/>
          </a:prstGeom>
          <a:solidFill>
            <a:srgbClr val="F8FCFD"/>
          </a:solidFill>
          <a:ln>
            <a:solidFill>
              <a:srgbClr val="227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03720" y="3172968"/>
            <a:ext cx="1143000" cy="182880"/>
          </a:xfrm>
          <a:prstGeom prst="rect">
            <a:avLst/>
          </a:prstGeom>
          <a:noFill/>
        </p:spPr>
        <p:txBody>
          <a:bodyPr wrap="square">
            <a:normAutofit/>
          </a:bodyPr>
          <a:lstStyle/>
          <a:p>
            <a:r>
              <a:rPr sz="1050" b="1">
                <a:solidFill>
                  <a:srgbClr val="227D5B"/>
                </a:solidFill>
                <a:latin typeface="Segoe UI"/>
              </a:rPr>
              <a:t>Silver</a:t>
            </a:r>
          </a:p>
        </p:txBody>
      </p:sp>
      <p:sp>
        <p:nvSpPr>
          <p:cNvPr id="17" name="TextBox 16"/>
          <p:cNvSpPr txBox="1"/>
          <p:nvPr/>
        </p:nvSpPr>
        <p:spPr>
          <a:xfrm>
            <a:off x="7936992" y="3172968"/>
            <a:ext cx="2971800" cy="182880"/>
          </a:xfrm>
          <a:prstGeom prst="rect">
            <a:avLst/>
          </a:prstGeom>
          <a:noFill/>
        </p:spPr>
        <p:txBody>
          <a:bodyPr wrap="square">
            <a:normAutofit/>
          </a:bodyPr>
          <a:lstStyle/>
          <a:p>
            <a:r>
              <a:rPr sz="1050" b="1">
                <a:solidFill>
                  <a:srgbClr val="232B38"/>
                </a:solidFill>
                <a:latin typeface="Segoe UI"/>
              </a:rPr>
              <a:t>silver_ventas360_limpia</a:t>
            </a:r>
          </a:p>
        </p:txBody>
      </p:sp>
      <p:sp>
        <p:nvSpPr>
          <p:cNvPr id="18" name="Rounded Rectangle 17"/>
          <p:cNvSpPr/>
          <p:nvPr/>
        </p:nvSpPr>
        <p:spPr>
          <a:xfrm>
            <a:off x="6711696" y="3749039"/>
            <a:ext cx="4370832" cy="530352"/>
          </a:xfrm>
          <a:prstGeom prst="roundRect">
            <a:avLst/>
          </a:prstGeom>
          <a:solidFill>
            <a:srgbClr val="F8FCFD"/>
          </a:solidFill>
          <a:ln>
            <a:solidFill>
              <a:srgbClr val="BC6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03720" y="3858768"/>
            <a:ext cx="1143000" cy="182880"/>
          </a:xfrm>
          <a:prstGeom prst="rect">
            <a:avLst/>
          </a:prstGeom>
          <a:noFill/>
        </p:spPr>
        <p:txBody>
          <a:bodyPr wrap="square">
            <a:normAutofit/>
          </a:bodyPr>
          <a:lstStyle/>
          <a:p>
            <a:r>
              <a:rPr sz="1050" b="1">
                <a:solidFill>
                  <a:srgbClr val="BC6F18"/>
                </a:solidFill>
                <a:latin typeface="Segoe UI"/>
              </a:rPr>
              <a:t>Warehouse</a:t>
            </a:r>
          </a:p>
        </p:txBody>
      </p:sp>
      <p:sp>
        <p:nvSpPr>
          <p:cNvPr id="20" name="TextBox 19"/>
          <p:cNvSpPr txBox="1"/>
          <p:nvPr/>
        </p:nvSpPr>
        <p:spPr>
          <a:xfrm>
            <a:off x="7936992" y="3858768"/>
            <a:ext cx="2971800" cy="182880"/>
          </a:xfrm>
          <a:prstGeom prst="rect">
            <a:avLst/>
          </a:prstGeom>
          <a:noFill/>
        </p:spPr>
        <p:txBody>
          <a:bodyPr wrap="square">
            <a:normAutofit/>
          </a:bodyPr>
          <a:lstStyle/>
          <a:p>
            <a:r>
              <a:rPr sz="1050" b="1">
                <a:solidFill>
                  <a:srgbClr val="232B38"/>
                </a:solidFill>
                <a:latin typeface="Segoe UI"/>
              </a:rPr>
              <a:t>dimensiones + fact</a:t>
            </a:r>
          </a:p>
        </p:txBody>
      </p:sp>
      <p:sp>
        <p:nvSpPr>
          <p:cNvPr id="21" name="Rounded Rectangle 20"/>
          <p:cNvSpPr/>
          <p:nvPr/>
        </p:nvSpPr>
        <p:spPr>
          <a:xfrm>
            <a:off x="6711696" y="4434840"/>
            <a:ext cx="4370832" cy="530352"/>
          </a:xfrm>
          <a:prstGeom prst="roundRect">
            <a:avLst/>
          </a:prstGeom>
          <a:solidFill>
            <a:srgbClr val="F8FCFD"/>
          </a:solidFill>
          <a:ln>
            <a:solidFill>
              <a:srgbClr val="6A4C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4544568"/>
            <a:ext cx="1143000" cy="182880"/>
          </a:xfrm>
          <a:prstGeom prst="rect">
            <a:avLst/>
          </a:prstGeom>
          <a:noFill/>
        </p:spPr>
        <p:txBody>
          <a:bodyPr wrap="square">
            <a:normAutofit/>
          </a:bodyPr>
          <a:lstStyle/>
          <a:p>
            <a:r>
              <a:rPr sz="1050" b="1">
                <a:solidFill>
                  <a:srgbClr val="6A4C93"/>
                </a:solidFill>
                <a:latin typeface="Segoe UI"/>
              </a:rPr>
              <a:t>Power BI</a:t>
            </a:r>
          </a:p>
        </p:txBody>
      </p:sp>
      <p:sp>
        <p:nvSpPr>
          <p:cNvPr id="23" name="TextBox 22"/>
          <p:cNvSpPr txBox="1"/>
          <p:nvPr/>
        </p:nvSpPr>
        <p:spPr>
          <a:xfrm>
            <a:off x="7936992" y="4544568"/>
            <a:ext cx="2971800" cy="182880"/>
          </a:xfrm>
          <a:prstGeom prst="rect">
            <a:avLst/>
          </a:prstGeom>
          <a:noFill/>
        </p:spPr>
        <p:txBody>
          <a:bodyPr wrap="square">
            <a:normAutofit/>
          </a:bodyPr>
          <a:lstStyle/>
          <a:p>
            <a:r>
              <a:rPr sz="1050" b="1">
                <a:solidFill>
                  <a:srgbClr val="232B38"/>
                </a:solidFill>
                <a:latin typeface="Segoe UI"/>
              </a:rPr>
              <a:t>6 medidas DAX</a:t>
            </a:r>
          </a:p>
        </p:txBody>
      </p:sp>
      <p:sp>
        <p:nvSpPr>
          <p:cNvPr id="24" name="Rectangle 23"/>
          <p:cNvSpPr/>
          <p:nvPr/>
        </p:nvSpPr>
        <p:spPr>
          <a:xfrm>
            <a:off x="0" y="6108192"/>
            <a:ext cx="12191695" cy="749808"/>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6345936"/>
            <a:ext cx="10607040" cy="201168"/>
          </a:xfrm>
          <a:prstGeom prst="rect">
            <a:avLst/>
          </a:prstGeom>
          <a:noFill/>
        </p:spPr>
        <p:txBody>
          <a:bodyPr wrap="square">
            <a:normAutofit/>
          </a:bodyPr>
          <a:lstStyle/>
          <a:p>
            <a:r>
              <a:rPr sz="850" b="0">
                <a:solidFill>
                  <a:srgbClr val="FFFFFF"/>
                </a:solidFill>
                <a:latin typeface="Segoe UI"/>
              </a:rPr>
              <a:t>Microsoft Fabric Analytics Engineer Associate · DP-600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0-8 MIN | APERTURA</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Flujo definitivo del caso</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La clase cierra con una solucion end-to-end enfocada en DP-600.</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883664"/>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332720" cy="347472"/>
          </a:xfrm>
          <a:prstGeom prst="rect">
            <a:avLst/>
          </a:prstGeom>
          <a:noFill/>
        </p:spPr>
        <p:txBody>
          <a:bodyPr wrap="square">
            <a:normAutofit/>
          </a:bodyPr>
          <a:lstStyle/>
          <a:p>
            <a:r>
              <a:rPr sz="1500" b="0">
                <a:solidFill>
                  <a:srgbClr val="232B38"/>
                </a:solidFill>
                <a:latin typeface="Segoe UI"/>
              </a:rPr>
              <a:t>Bronze: CSV manual en LK_bronce y notebook que crea la tabla Delta ventas360_delta_unica.</a:t>
            </a:r>
          </a:p>
        </p:txBody>
      </p:sp>
      <p:sp>
        <p:nvSpPr>
          <p:cNvPr id="8" name="Oval 7"/>
          <p:cNvSpPr/>
          <p:nvPr/>
        </p:nvSpPr>
        <p:spPr>
          <a:xfrm>
            <a:off x="758952" y="2450592"/>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95728"/>
            <a:ext cx="10332720" cy="347472"/>
          </a:xfrm>
          <a:prstGeom prst="rect">
            <a:avLst/>
          </a:prstGeom>
          <a:noFill/>
        </p:spPr>
        <p:txBody>
          <a:bodyPr wrap="square">
            <a:normAutofit/>
          </a:bodyPr>
          <a:lstStyle/>
          <a:p>
            <a:r>
              <a:rPr sz="1500" b="0">
                <a:solidFill>
                  <a:srgbClr val="232B38"/>
                </a:solidFill>
                <a:latin typeface="Segoe UI"/>
              </a:rPr>
              <a:t>Silver: notebook en LK_plata que limpia, tipa, normaliza y marca duplicados en silver_ventas360_limpia.</a:t>
            </a:r>
          </a:p>
        </p:txBody>
      </p:sp>
      <p:sp>
        <p:nvSpPr>
          <p:cNvPr id="10" name="Oval 9"/>
          <p:cNvSpPr/>
          <p:nvPr/>
        </p:nvSpPr>
        <p:spPr>
          <a:xfrm>
            <a:off x="758952" y="3017520"/>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62656"/>
            <a:ext cx="10332720" cy="347472"/>
          </a:xfrm>
          <a:prstGeom prst="rect">
            <a:avLst/>
          </a:prstGeom>
          <a:noFill/>
        </p:spPr>
        <p:txBody>
          <a:bodyPr wrap="square">
            <a:normAutofit/>
          </a:bodyPr>
          <a:lstStyle/>
          <a:p>
            <a:r>
              <a:rPr sz="1500" b="0">
                <a:solidFill>
                  <a:srgbClr val="232B38"/>
                </a:solidFill>
                <a:latin typeface="Segoe UI"/>
              </a:rPr>
              <a:t>Gold: Warehouse crea dimensiones y fact desde Silver.</a:t>
            </a:r>
          </a:p>
        </p:txBody>
      </p:sp>
      <p:sp>
        <p:nvSpPr>
          <p:cNvPr id="12" name="Oval 11"/>
          <p:cNvSpPr/>
          <p:nvPr/>
        </p:nvSpPr>
        <p:spPr>
          <a:xfrm>
            <a:off x="758952" y="3584448"/>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29584"/>
            <a:ext cx="10332720" cy="347472"/>
          </a:xfrm>
          <a:prstGeom prst="rect">
            <a:avLst/>
          </a:prstGeom>
          <a:noFill/>
        </p:spPr>
        <p:txBody>
          <a:bodyPr wrap="square">
            <a:normAutofit/>
          </a:bodyPr>
          <a:lstStyle/>
          <a:p>
            <a:r>
              <a:rPr sz="1500" b="0">
                <a:solidFill>
                  <a:srgbClr val="232B38"/>
                </a:solidFill>
                <a:latin typeface="Segoe UI"/>
              </a:rPr>
              <a:t>Semantic model: relaciones 1 a muchos, direccion Single y 6 medidas DAX basicas.</a:t>
            </a:r>
          </a:p>
        </p:txBody>
      </p:sp>
      <p:sp>
        <p:nvSpPr>
          <p:cNvPr id="14" name="Oval 13"/>
          <p:cNvSpPr/>
          <p:nvPr/>
        </p:nvSpPr>
        <p:spPr>
          <a:xfrm>
            <a:off x="758952" y="4151376"/>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096512"/>
            <a:ext cx="10332720" cy="347472"/>
          </a:xfrm>
          <a:prstGeom prst="rect">
            <a:avLst/>
          </a:prstGeom>
          <a:noFill/>
        </p:spPr>
        <p:txBody>
          <a:bodyPr wrap="square">
            <a:normAutofit/>
          </a:bodyPr>
          <a:lstStyle/>
          <a:p>
            <a:r>
              <a:rPr sz="1500" b="0">
                <a:solidFill>
                  <a:srgbClr val="232B38"/>
                </a:solidFill>
                <a:latin typeface="Segoe UI"/>
              </a:rPr>
              <a:t>Maintain: seguridad por Region, lineage, impact analysis y despliegue Dev-Test-Prod.</a:t>
            </a:r>
          </a:p>
        </p:txBody>
      </p:sp>
      <p:sp>
        <p:nvSpPr>
          <p:cNvPr id="16" name="TextBox 15"/>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17" name="Rectangle 16"/>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9" name="TextBox 18"/>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8-15 MIN | ARQUITECTURA</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Capas y responsabilidades</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Cada capa tiene un proposito claro dentro de la arquitectura medallion.</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783080"/>
            <a:ext cx="2423160" cy="420624"/>
          </a:xfrm>
          <a:prstGeom prst="rect">
            <a:avLst/>
          </a:prstGeom>
          <a:solidFill>
            <a:srgbClr val="00788C"/>
          </a:solidFill>
          <a:ln>
            <a:solidFill>
              <a:srgbClr val="00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892807"/>
            <a:ext cx="2240279" cy="128016"/>
          </a:xfrm>
          <a:prstGeom prst="rect">
            <a:avLst/>
          </a:prstGeom>
          <a:noFill/>
        </p:spPr>
        <p:txBody>
          <a:bodyPr wrap="square">
            <a:normAutofit/>
          </a:bodyPr>
          <a:lstStyle/>
          <a:p>
            <a:r>
              <a:rPr sz="850" b="1">
                <a:solidFill>
                  <a:srgbClr val="FFFFFF"/>
                </a:solidFill>
                <a:latin typeface="Segoe UI"/>
              </a:rPr>
              <a:t>Capa</a:t>
            </a:r>
          </a:p>
        </p:txBody>
      </p:sp>
      <p:sp>
        <p:nvSpPr>
          <p:cNvPr id="8" name="Rectangle 7"/>
          <p:cNvSpPr/>
          <p:nvPr/>
        </p:nvSpPr>
        <p:spPr>
          <a:xfrm>
            <a:off x="3081528" y="1783080"/>
            <a:ext cx="3291840" cy="420624"/>
          </a:xfrm>
          <a:prstGeom prst="rect">
            <a:avLst/>
          </a:prstGeom>
          <a:solidFill>
            <a:srgbClr val="00788C"/>
          </a:solidFill>
          <a:ln>
            <a:solidFill>
              <a:srgbClr val="00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72968" y="1892807"/>
            <a:ext cx="3108960" cy="128016"/>
          </a:xfrm>
          <a:prstGeom prst="rect">
            <a:avLst/>
          </a:prstGeom>
          <a:noFill/>
        </p:spPr>
        <p:txBody>
          <a:bodyPr wrap="square">
            <a:normAutofit/>
          </a:bodyPr>
          <a:lstStyle/>
          <a:p>
            <a:r>
              <a:rPr sz="850" b="1">
                <a:solidFill>
                  <a:srgbClr val="FFFFFF"/>
                </a:solidFill>
                <a:latin typeface="Segoe UI"/>
              </a:rPr>
              <a:t>Artefacto</a:t>
            </a:r>
          </a:p>
        </p:txBody>
      </p:sp>
      <p:sp>
        <p:nvSpPr>
          <p:cNvPr id="10" name="Rectangle 9"/>
          <p:cNvSpPr/>
          <p:nvPr/>
        </p:nvSpPr>
        <p:spPr>
          <a:xfrm>
            <a:off x="6373368" y="1783080"/>
            <a:ext cx="4892040" cy="420624"/>
          </a:xfrm>
          <a:prstGeom prst="rect">
            <a:avLst/>
          </a:prstGeom>
          <a:solidFill>
            <a:srgbClr val="00788C"/>
          </a:solidFill>
          <a:ln>
            <a:solidFill>
              <a:srgbClr val="00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7" y="1892807"/>
            <a:ext cx="4709159" cy="128016"/>
          </a:xfrm>
          <a:prstGeom prst="rect">
            <a:avLst/>
          </a:prstGeom>
          <a:noFill/>
        </p:spPr>
        <p:txBody>
          <a:bodyPr wrap="square">
            <a:normAutofit/>
          </a:bodyPr>
          <a:lstStyle/>
          <a:p>
            <a:r>
              <a:rPr sz="850" b="1">
                <a:solidFill>
                  <a:srgbClr val="FFFFFF"/>
                </a:solidFill>
                <a:latin typeface="Segoe UI"/>
              </a:rPr>
              <a:t>Salida</a:t>
            </a:r>
          </a:p>
        </p:txBody>
      </p:sp>
      <p:sp>
        <p:nvSpPr>
          <p:cNvPr id="12" name="Rectangle 11"/>
          <p:cNvSpPr/>
          <p:nvPr/>
        </p:nvSpPr>
        <p:spPr>
          <a:xfrm>
            <a:off x="658368" y="2203704"/>
            <a:ext cx="242316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295144"/>
            <a:ext cx="2240279" cy="146304"/>
          </a:xfrm>
          <a:prstGeom prst="rect">
            <a:avLst/>
          </a:prstGeom>
          <a:noFill/>
        </p:spPr>
        <p:txBody>
          <a:bodyPr wrap="square">
            <a:normAutofit/>
          </a:bodyPr>
          <a:lstStyle/>
          <a:p>
            <a:r>
              <a:rPr sz="780" b="1">
                <a:solidFill>
                  <a:srgbClr val="232B38"/>
                </a:solidFill>
                <a:latin typeface="Segoe UI"/>
              </a:rPr>
              <a:t>Bronze</a:t>
            </a:r>
          </a:p>
        </p:txBody>
      </p:sp>
      <p:sp>
        <p:nvSpPr>
          <p:cNvPr id="14" name="Rectangle 13"/>
          <p:cNvSpPr/>
          <p:nvPr/>
        </p:nvSpPr>
        <p:spPr>
          <a:xfrm>
            <a:off x="3081528" y="2203704"/>
            <a:ext cx="32918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72968" y="2295144"/>
            <a:ext cx="3108960" cy="146304"/>
          </a:xfrm>
          <a:prstGeom prst="rect">
            <a:avLst/>
          </a:prstGeom>
          <a:noFill/>
        </p:spPr>
        <p:txBody>
          <a:bodyPr wrap="square">
            <a:normAutofit/>
          </a:bodyPr>
          <a:lstStyle/>
          <a:p>
            <a:r>
              <a:rPr sz="780" b="0">
                <a:solidFill>
                  <a:srgbClr val="232B38"/>
                </a:solidFill>
                <a:latin typeface="Segoe UI"/>
              </a:rPr>
              <a:t>LK_bronce + notebook</a:t>
            </a:r>
          </a:p>
        </p:txBody>
      </p:sp>
      <p:sp>
        <p:nvSpPr>
          <p:cNvPr id="16" name="Rectangle 15"/>
          <p:cNvSpPr/>
          <p:nvPr/>
        </p:nvSpPr>
        <p:spPr>
          <a:xfrm>
            <a:off x="6373368" y="2203704"/>
            <a:ext cx="48920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7" y="2295144"/>
            <a:ext cx="4709159" cy="146304"/>
          </a:xfrm>
          <a:prstGeom prst="rect">
            <a:avLst/>
          </a:prstGeom>
          <a:noFill/>
        </p:spPr>
        <p:txBody>
          <a:bodyPr wrap="square">
            <a:normAutofit/>
          </a:bodyPr>
          <a:lstStyle/>
          <a:p>
            <a:r>
              <a:rPr sz="780" b="0">
                <a:solidFill>
                  <a:srgbClr val="232B38"/>
                </a:solidFill>
                <a:latin typeface="Segoe UI"/>
              </a:rPr>
              <a:t>dbo.ventas360_delta_unica</a:t>
            </a:r>
          </a:p>
        </p:txBody>
      </p:sp>
      <p:sp>
        <p:nvSpPr>
          <p:cNvPr id="18" name="Rectangle 17"/>
          <p:cNvSpPr/>
          <p:nvPr/>
        </p:nvSpPr>
        <p:spPr>
          <a:xfrm>
            <a:off x="658368" y="2660904"/>
            <a:ext cx="242316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752344"/>
            <a:ext cx="2240279" cy="146304"/>
          </a:xfrm>
          <a:prstGeom prst="rect">
            <a:avLst/>
          </a:prstGeom>
          <a:noFill/>
        </p:spPr>
        <p:txBody>
          <a:bodyPr wrap="square">
            <a:normAutofit/>
          </a:bodyPr>
          <a:lstStyle/>
          <a:p>
            <a:r>
              <a:rPr sz="780" b="1">
                <a:solidFill>
                  <a:srgbClr val="232B38"/>
                </a:solidFill>
                <a:latin typeface="Segoe UI"/>
              </a:rPr>
              <a:t>Silver</a:t>
            </a:r>
          </a:p>
        </p:txBody>
      </p:sp>
      <p:sp>
        <p:nvSpPr>
          <p:cNvPr id="20" name="Rectangle 19"/>
          <p:cNvSpPr/>
          <p:nvPr/>
        </p:nvSpPr>
        <p:spPr>
          <a:xfrm>
            <a:off x="3081528" y="2660904"/>
            <a:ext cx="32918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72968" y="2752344"/>
            <a:ext cx="3108960" cy="146304"/>
          </a:xfrm>
          <a:prstGeom prst="rect">
            <a:avLst/>
          </a:prstGeom>
          <a:noFill/>
        </p:spPr>
        <p:txBody>
          <a:bodyPr wrap="square">
            <a:normAutofit/>
          </a:bodyPr>
          <a:lstStyle/>
          <a:p>
            <a:r>
              <a:rPr sz="780" b="0">
                <a:solidFill>
                  <a:srgbClr val="232B38"/>
                </a:solidFill>
                <a:latin typeface="Segoe UI"/>
              </a:rPr>
              <a:t>LK_plata + notebook</a:t>
            </a:r>
          </a:p>
        </p:txBody>
      </p:sp>
      <p:sp>
        <p:nvSpPr>
          <p:cNvPr id="22" name="Rectangle 21"/>
          <p:cNvSpPr/>
          <p:nvPr/>
        </p:nvSpPr>
        <p:spPr>
          <a:xfrm>
            <a:off x="6373368" y="2660904"/>
            <a:ext cx="48920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7" y="2752344"/>
            <a:ext cx="4709159" cy="146304"/>
          </a:xfrm>
          <a:prstGeom prst="rect">
            <a:avLst/>
          </a:prstGeom>
          <a:noFill/>
        </p:spPr>
        <p:txBody>
          <a:bodyPr wrap="square">
            <a:normAutofit/>
          </a:bodyPr>
          <a:lstStyle/>
          <a:p>
            <a:r>
              <a:rPr sz="780" b="0">
                <a:solidFill>
                  <a:srgbClr val="232B38"/>
                </a:solidFill>
                <a:latin typeface="Segoe UI"/>
              </a:rPr>
              <a:t>dbo.silver_ventas360_limpia</a:t>
            </a:r>
          </a:p>
        </p:txBody>
      </p:sp>
      <p:sp>
        <p:nvSpPr>
          <p:cNvPr id="24" name="Rectangle 23"/>
          <p:cNvSpPr/>
          <p:nvPr/>
        </p:nvSpPr>
        <p:spPr>
          <a:xfrm>
            <a:off x="658368" y="3118104"/>
            <a:ext cx="242316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209544"/>
            <a:ext cx="2240279" cy="146304"/>
          </a:xfrm>
          <a:prstGeom prst="rect">
            <a:avLst/>
          </a:prstGeom>
          <a:noFill/>
        </p:spPr>
        <p:txBody>
          <a:bodyPr wrap="square">
            <a:normAutofit/>
          </a:bodyPr>
          <a:lstStyle/>
          <a:p>
            <a:r>
              <a:rPr sz="780" b="1">
                <a:solidFill>
                  <a:srgbClr val="232B38"/>
                </a:solidFill>
                <a:latin typeface="Segoe UI"/>
              </a:rPr>
              <a:t>Gold</a:t>
            </a:r>
          </a:p>
        </p:txBody>
      </p:sp>
      <p:sp>
        <p:nvSpPr>
          <p:cNvPr id="26" name="Rectangle 25"/>
          <p:cNvSpPr/>
          <p:nvPr/>
        </p:nvSpPr>
        <p:spPr>
          <a:xfrm>
            <a:off x="3081528" y="3118104"/>
            <a:ext cx="32918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72968" y="3209544"/>
            <a:ext cx="3108960" cy="146304"/>
          </a:xfrm>
          <a:prstGeom prst="rect">
            <a:avLst/>
          </a:prstGeom>
          <a:noFill/>
        </p:spPr>
        <p:txBody>
          <a:bodyPr wrap="square">
            <a:normAutofit/>
          </a:bodyPr>
          <a:lstStyle/>
          <a:p>
            <a:r>
              <a:rPr sz="780" b="0">
                <a:solidFill>
                  <a:srgbClr val="232B38"/>
                </a:solidFill>
                <a:latin typeface="Segoe UI"/>
              </a:rPr>
              <a:t>Warehouse SQL</a:t>
            </a:r>
          </a:p>
        </p:txBody>
      </p:sp>
      <p:sp>
        <p:nvSpPr>
          <p:cNvPr id="28" name="Rectangle 27"/>
          <p:cNvSpPr/>
          <p:nvPr/>
        </p:nvSpPr>
        <p:spPr>
          <a:xfrm>
            <a:off x="6373368" y="3118104"/>
            <a:ext cx="48920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4807" y="3209544"/>
            <a:ext cx="4709159" cy="146304"/>
          </a:xfrm>
          <a:prstGeom prst="rect">
            <a:avLst/>
          </a:prstGeom>
          <a:noFill/>
        </p:spPr>
        <p:txBody>
          <a:bodyPr wrap="square">
            <a:normAutofit/>
          </a:bodyPr>
          <a:lstStyle/>
          <a:p>
            <a:r>
              <a:rPr sz="780" b="0">
                <a:solidFill>
                  <a:srgbClr val="232B38"/>
                </a:solidFill>
                <a:latin typeface="Segoe UI"/>
              </a:rPr>
              <a:t>gold_dim_* y gold_fact_ventas</a:t>
            </a:r>
          </a:p>
        </p:txBody>
      </p:sp>
      <p:sp>
        <p:nvSpPr>
          <p:cNvPr id="30" name="Rectangle 29"/>
          <p:cNvSpPr/>
          <p:nvPr/>
        </p:nvSpPr>
        <p:spPr>
          <a:xfrm>
            <a:off x="658368" y="3575304"/>
            <a:ext cx="242316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3666744"/>
            <a:ext cx="2240279" cy="146304"/>
          </a:xfrm>
          <a:prstGeom prst="rect">
            <a:avLst/>
          </a:prstGeom>
          <a:noFill/>
        </p:spPr>
        <p:txBody>
          <a:bodyPr wrap="square">
            <a:normAutofit/>
          </a:bodyPr>
          <a:lstStyle/>
          <a:p>
            <a:r>
              <a:rPr sz="780" b="1">
                <a:solidFill>
                  <a:srgbClr val="232B38"/>
                </a:solidFill>
                <a:latin typeface="Segoe UI"/>
              </a:rPr>
              <a:t>Semantic</a:t>
            </a:r>
          </a:p>
        </p:txBody>
      </p:sp>
      <p:sp>
        <p:nvSpPr>
          <p:cNvPr id="32" name="Rectangle 31"/>
          <p:cNvSpPr/>
          <p:nvPr/>
        </p:nvSpPr>
        <p:spPr>
          <a:xfrm>
            <a:off x="3081528" y="3575304"/>
            <a:ext cx="32918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72968" y="3666744"/>
            <a:ext cx="3108960" cy="146304"/>
          </a:xfrm>
          <a:prstGeom prst="rect">
            <a:avLst/>
          </a:prstGeom>
          <a:noFill/>
        </p:spPr>
        <p:txBody>
          <a:bodyPr wrap="square">
            <a:normAutofit/>
          </a:bodyPr>
          <a:lstStyle/>
          <a:p>
            <a:r>
              <a:rPr sz="780" b="0">
                <a:solidFill>
                  <a:srgbClr val="232B38"/>
                </a:solidFill>
                <a:latin typeface="Segoe UI"/>
              </a:rPr>
              <a:t>Power BI / Fabric model</a:t>
            </a:r>
          </a:p>
        </p:txBody>
      </p:sp>
      <p:sp>
        <p:nvSpPr>
          <p:cNvPr id="34" name="Rectangle 33"/>
          <p:cNvSpPr/>
          <p:nvPr/>
        </p:nvSpPr>
        <p:spPr>
          <a:xfrm>
            <a:off x="6373368" y="3575304"/>
            <a:ext cx="48920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4807" y="3666744"/>
            <a:ext cx="4709159" cy="146304"/>
          </a:xfrm>
          <a:prstGeom prst="rect">
            <a:avLst/>
          </a:prstGeom>
          <a:noFill/>
        </p:spPr>
        <p:txBody>
          <a:bodyPr wrap="square">
            <a:normAutofit/>
          </a:bodyPr>
          <a:lstStyle/>
          <a:p>
            <a:r>
              <a:rPr sz="780" b="0">
                <a:solidFill>
                  <a:srgbClr val="232B38"/>
                </a:solidFill>
                <a:latin typeface="Segoe UI"/>
              </a:rPr>
              <a:t>Relaciones y 6 medidas DAX</a:t>
            </a:r>
          </a:p>
        </p:txBody>
      </p:sp>
      <p:sp>
        <p:nvSpPr>
          <p:cNvPr id="36" name="Rectangle 35"/>
          <p:cNvSpPr/>
          <p:nvPr/>
        </p:nvSpPr>
        <p:spPr>
          <a:xfrm>
            <a:off x="658368" y="4032504"/>
            <a:ext cx="242316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8" y="4123944"/>
            <a:ext cx="2240279" cy="146304"/>
          </a:xfrm>
          <a:prstGeom prst="rect">
            <a:avLst/>
          </a:prstGeom>
          <a:noFill/>
        </p:spPr>
        <p:txBody>
          <a:bodyPr wrap="square">
            <a:normAutofit/>
          </a:bodyPr>
          <a:lstStyle/>
          <a:p>
            <a:r>
              <a:rPr sz="780" b="1">
                <a:solidFill>
                  <a:srgbClr val="232B38"/>
                </a:solidFill>
                <a:latin typeface="Segoe UI"/>
              </a:rPr>
              <a:t>Maintain</a:t>
            </a:r>
          </a:p>
        </p:txBody>
      </p:sp>
      <p:sp>
        <p:nvSpPr>
          <p:cNvPr id="38" name="Rectangle 37"/>
          <p:cNvSpPr/>
          <p:nvPr/>
        </p:nvSpPr>
        <p:spPr>
          <a:xfrm>
            <a:off x="3081528" y="4032504"/>
            <a:ext cx="32918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72968" y="4123944"/>
            <a:ext cx="3108960" cy="146304"/>
          </a:xfrm>
          <a:prstGeom prst="rect">
            <a:avLst/>
          </a:prstGeom>
          <a:noFill/>
        </p:spPr>
        <p:txBody>
          <a:bodyPr wrap="square">
            <a:normAutofit/>
          </a:bodyPr>
          <a:lstStyle/>
          <a:p>
            <a:r>
              <a:rPr sz="780" b="0">
                <a:solidFill>
                  <a:srgbClr val="232B38"/>
                </a:solidFill>
                <a:latin typeface="Segoe UI"/>
              </a:rPr>
              <a:t>Fabric governance</a:t>
            </a:r>
          </a:p>
        </p:txBody>
      </p:sp>
      <p:sp>
        <p:nvSpPr>
          <p:cNvPr id="40" name="Rectangle 39"/>
          <p:cNvSpPr/>
          <p:nvPr/>
        </p:nvSpPr>
        <p:spPr>
          <a:xfrm>
            <a:off x="6373368" y="4032504"/>
            <a:ext cx="48920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64807" y="4123944"/>
            <a:ext cx="4709159" cy="146304"/>
          </a:xfrm>
          <a:prstGeom prst="rect">
            <a:avLst/>
          </a:prstGeom>
          <a:noFill/>
        </p:spPr>
        <p:txBody>
          <a:bodyPr wrap="square">
            <a:normAutofit/>
          </a:bodyPr>
          <a:lstStyle/>
          <a:p>
            <a:r>
              <a:rPr sz="780" b="0">
                <a:solidFill>
                  <a:srgbClr val="232B38"/>
                </a:solidFill>
                <a:latin typeface="Segoe UI"/>
              </a:rPr>
              <a:t>RLS, lineage, impact y deployment</a:t>
            </a:r>
          </a:p>
        </p:txBody>
      </p:sp>
      <p:sp>
        <p:nvSpPr>
          <p:cNvPr id="42" name="TextBox 41"/>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43" name="Rectangle 42"/>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45" name="TextBox 44"/>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8-15 MIN | ARQUITECTURA</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Para que sirve en DP-600</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El caso practico entrena las habilidades medidas por el examen en un flujo unico.</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783080"/>
            <a:ext cx="2423160" cy="420624"/>
          </a:xfrm>
          <a:prstGeom prst="rect">
            <a:avLst/>
          </a:prstGeom>
          <a:solidFill>
            <a:srgbClr val="00788C"/>
          </a:solidFill>
          <a:ln>
            <a:solidFill>
              <a:srgbClr val="00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892807"/>
            <a:ext cx="2240279" cy="128016"/>
          </a:xfrm>
          <a:prstGeom prst="rect">
            <a:avLst/>
          </a:prstGeom>
          <a:noFill/>
        </p:spPr>
        <p:txBody>
          <a:bodyPr wrap="square">
            <a:normAutofit/>
          </a:bodyPr>
          <a:lstStyle/>
          <a:p>
            <a:r>
              <a:rPr sz="850" b="1">
                <a:solidFill>
                  <a:srgbClr val="FFFFFF"/>
                </a:solidFill>
                <a:latin typeface="Segoe UI"/>
              </a:rPr>
              <a:t>Fase</a:t>
            </a:r>
          </a:p>
        </p:txBody>
      </p:sp>
      <p:sp>
        <p:nvSpPr>
          <p:cNvPr id="8" name="Rectangle 7"/>
          <p:cNvSpPr/>
          <p:nvPr/>
        </p:nvSpPr>
        <p:spPr>
          <a:xfrm>
            <a:off x="3081528" y="1783080"/>
            <a:ext cx="3291840" cy="420624"/>
          </a:xfrm>
          <a:prstGeom prst="rect">
            <a:avLst/>
          </a:prstGeom>
          <a:solidFill>
            <a:srgbClr val="00788C"/>
          </a:solidFill>
          <a:ln>
            <a:solidFill>
              <a:srgbClr val="00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72968" y="1892807"/>
            <a:ext cx="3108960" cy="128016"/>
          </a:xfrm>
          <a:prstGeom prst="rect">
            <a:avLst/>
          </a:prstGeom>
          <a:noFill/>
        </p:spPr>
        <p:txBody>
          <a:bodyPr wrap="square">
            <a:normAutofit/>
          </a:bodyPr>
          <a:lstStyle/>
          <a:p>
            <a:r>
              <a:rPr sz="850" b="1">
                <a:solidFill>
                  <a:srgbClr val="FFFFFF"/>
                </a:solidFill>
                <a:latin typeface="Segoe UI"/>
              </a:rPr>
              <a:t>Lo que hacemos</a:t>
            </a:r>
          </a:p>
        </p:txBody>
      </p:sp>
      <p:sp>
        <p:nvSpPr>
          <p:cNvPr id="10" name="Rectangle 9"/>
          <p:cNvSpPr/>
          <p:nvPr/>
        </p:nvSpPr>
        <p:spPr>
          <a:xfrm>
            <a:off x="6373368" y="1783080"/>
            <a:ext cx="4892040" cy="420624"/>
          </a:xfrm>
          <a:prstGeom prst="rect">
            <a:avLst/>
          </a:prstGeom>
          <a:solidFill>
            <a:srgbClr val="00788C"/>
          </a:solidFill>
          <a:ln>
            <a:solidFill>
              <a:srgbClr val="00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7" y="1892807"/>
            <a:ext cx="4709159" cy="128016"/>
          </a:xfrm>
          <a:prstGeom prst="rect">
            <a:avLst/>
          </a:prstGeom>
          <a:noFill/>
        </p:spPr>
        <p:txBody>
          <a:bodyPr wrap="square">
            <a:normAutofit/>
          </a:bodyPr>
          <a:lstStyle/>
          <a:p>
            <a:r>
              <a:rPr sz="850" b="1">
                <a:solidFill>
                  <a:srgbClr val="FFFFFF"/>
                </a:solidFill>
                <a:latin typeface="Segoe UI"/>
              </a:rPr>
              <a:t>Habilidad DP-600</a:t>
            </a:r>
          </a:p>
        </p:txBody>
      </p:sp>
      <p:sp>
        <p:nvSpPr>
          <p:cNvPr id="12" name="Rectangle 11"/>
          <p:cNvSpPr/>
          <p:nvPr/>
        </p:nvSpPr>
        <p:spPr>
          <a:xfrm>
            <a:off x="658368" y="2203704"/>
            <a:ext cx="242316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295144"/>
            <a:ext cx="2240279" cy="146304"/>
          </a:xfrm>
          <a:prstGeom prst="rect">
            <a:avLst/>
          </a:prstGeom>
          <a:noFill/>
        </p:spPr>
        <p:txBody>
          <a:bodyPr wrap="square">
            <a:normAutofit/>
          </a:bodyPr>
          <a:lstStyle/>
          <a:p>
            <a:r>
              <a:rPr sz="780" b="1">
                <a:solidFill>
                  <a:srgbClr val="232B38"/>
                </a:solidFill>
                <a:latin typeface="Segoe UI"/>
              </a:rPr>
              <a:t>Bronze</a:t>
            </a:r>
          </a:p>
        </p:txBody>
      </p:sp>
      <p:sp>
        <p:nvSpPr>
          <p:cNvPr id="14" name="Rectangle 13"/>
          <p:cNvSpPr/>
          <p:nvPr/>
        </p:nvSpPr>
        <p:spPr>
          <a:xfrm>
            <a:off x="3081528" y="2203704"/>
            <a:ext cx="32918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72968" y="2295144"/>
            <a:ext cx="3108960" cy="146304"/>
          </a:xfrm>
          <a:prstGeom prst="rect">
            <a:avLst/>
          </a:prstGeom>
          <a:noFill/>
        </p:spPr>
        <p:txBody>
          <a:bodyPr wrap="square">
            <a:normAutofit/>
          </a:bodyPr>
          <a:lstStyle/>
          <a:p>
            <a:r>
              <a:rPr sz="780" b="0">
                <a:solidFill>
                  <a:srgbClr val="232B38"/>
                </a:solidFill>
                <a:latin typeface="Segoe UI"/>
              </a:rPr>
              <a:t>CSV a Delta con notebook</a:t>
            </a:r>
          </a:p>
        </p:txBody>
      </p:sp>
      <p:sp>
        <p:nvSpPr>
          <p:cNvPr id="16" name="Rectangle 15"/>
          <p:cNvSpPr/>
          <p:nvPr/>
        </p:nvSpPr>
        <p:spPr>
          <a:xfrm>
            <a:off x="6373368" y="2203704"/>
            <a:ext cx="48920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7" y="2295144"/>
            <a:ext cx="4709159" cy="146304"/>
          </a:xfrm>
          <a:prstGeom prst="rect">
            <a:avLst/>
          </a:prstGeom>
          <a:noFill/>
        </p:spPr>
        <p:txBody>
          <a:bodyPr wrap="square">
            <a:normAutofit/>
          </a:bodyPr>
          <a:lstStyle/>
          <a:p>
            <a:r>
              <a:rPr sz="780" b="0">
                <a:solidFill>
                  <a:srgbClr val="232B38"/>
                </a:solidFill>
                <a:latin typeface="Segoe UI"/>
              </a:rPr>
              <a:t>Get data: ingerir/acceder a datos y elegir data store</a:t>
            </a:r>
          </a:p>
        </p:txBody>
      </p:sp>
      <p:sp>
        <p:nvSpPr>
          <p:cNvPr id="18" name="Rectangle 17"/>
          <p:cNvSpPr/>
          <p:nvPr/>
        </p:nvSpPr>
        <p:spPr>
          <a:xfrm>
            <a:off x="658368" y="2660904"/>
            <a:ext cx="242316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752344"/>
            <a:ext cx="2240279" cy="146304"/>
          </a:xfrm>
          <a:prstGeom prst="rect">
            <a:avLst/>
          </a:prstGeom>
          <a:noFill/>
        </p:spPr>
        <p:txBody>
          <a:bodyPr wrap="square">
            <a:normAutofit/>
          </a:bodyPr>
          <a:lstStyle/>
          <a:p>
            <a:r>
              <a:rPr sz="780" b="1">
                <a:solidFill>
                  <a:srgbClr val="232B38"/>
                </a:solidFill>
                <a:latin typeface="Segoe UI"/>
              </a:rPr>
              <a:t>Silver</a:t>
            </a:r>
          </a:p>
        </p:txBody>
      </p:sp>
      <p:sp>
        <p:nvSpPr>
          <p:cNvPr id="20" name="Rectangle 19"/>
          <p:cNvSpPr/>
          <p:nvPr/>
        </p:nvSpPr>
        <p:spPr>
          <a:xfrm>
            <a:off x="3081528" y="2660904"/>
            <a:ext cx="32918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72968" y="2752344"/>
            <a:ext cx="3108960" cy="146304"/>
          </a:xfrm>
          <a:prstGeom prst="rect">
            <a:avLst/>
          </a:prstGeom>
          <a:noFill/>
        </p:spPr>
        <p:txBody>
          <a:bodyPr wrap="square">
            <a:normAutofit/>
          </a:bodyPr>
          <a:lstStyle/>
          <a:p>
            <a:r>
              <a:rPr sz="780" b="0">
                <a:solidFill>
                  <a:srgbClr val="232B38"/>
                </a:solidFill>
                <a:latin typeface="Segoe UI"/>
              </a:rPr>
              <a:t>Limpiar, tipar y marcar duplicados</a:t>
            </a:r>
          </a:p>
        </p:txBody>
      </p:sp>
      <p:sp>
        <p:nvSpPr>
          <p:cNvPr id="22" name="Rectangle 21"/>
          <p:cNvSpPr/>
          <p:nvPr/>
        </p:nvSpPr>
        <p:spPr>
          <a:xfrm>
            <a:off x="6373368" y="2660904"/>
            <a:ext cx="48920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7" y="2752344"/>
            <a:ext cx="4709159" cy="146304"/>
          </a:xfrm>
          <a:prstGeom prst="rect">
            <a:avLst/>
          </a:prstGeom>
          <a:noFill/>
        </p:spPr>
        <p:txBody>
          <a:bodyPr wrap="square">
            <a:normAutofit/>
          </a:bodyPr>
          <a:lstStyle/>
          <a:p>
            <a:r>
              <a:rPr sz="780" b="0">
                <a:solidFill>
                  <a:srgbClr val="232B38"/>
                </a:solidFill>
                <a:latin typeface="Segoe UI"/>
              </a:rPr>
              <a:t>Transform data: nulos, duplicados, tipos y reglas</a:t>
            </a:r>
          </a:p>
        </p:txBody>
      </p:sp>
      <p:sp>
        <p:nvSpPr>
          <p:cNvPr id="24" name="Rectangle 23"/>
          <p:cNvSpPr/>
          <p:nvPr/>
        </p:nvSpPr>
        <p:spPr>
          <a:xfrm>
            <a:off x="658368" y="3118104"/>
            <a:ext cx="242316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209544"/>
            <a:ext cx="2240279" cy="146304"/>
          </a:xfrm>
          <a:prstGeom prst="rect">
            <a:avLst/>
          </a:prstGeom>
          <a:noFill/>
        </p:spPr>
        <p:txBody>
          <a:bodyPr wrap="square">
            <a:normAutofit/>
          </a:bodyPr>
          <a:lstStyle/>
          <a:p>
            <a:r>
              <a:rPr sz="780" b="1">
                <a:solidFill>
                  <a:srgbClr val="232B38"/>
                </a:solidFill>
                <a:latin typeface="Segoe UI"/>
              </a:rPr>
              <a:t>Gold</a:t>
            </a:r>
          </a:p>
        </p:txBody>
      </p:sp>
      <p:sp>
        <p:nvSpPr>
          <p:cNvPr id="26" name="Rectangle 25"/>
          <p:cNvSpPr/>
          <p:nvPr/>
        </p:nvSpPr>
        <p:spPr>
          <a:xfrm>
            <a:off x="3081528" y="3118104"/>
            <a:ext cx="32918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72968" y="3209544"/>
            <a:ext cx="3108960" cy="146304"/>
          </a:xfrm>
          <a:prstGeom prst="rect">
            <a:avLst/>
          </a:prstGeom>
          <a:noFill/>
        </p:spPr>
        <p:txBody>
          <a:bodyPr wrap="square">
            <a:normAutofit/>
          </a:bodyPr>
          <a:lstStyle/>
          <a:p>
            <a:r>
              <a:rPr sz="780" b="0">
                <a:solidFill>
                  <a:srgbClr val="232B38"/>
                </a:solidFill>
                <a:latin typeface="Segoe UI"/>
              </a:rPr>
              <a:t>Dimensiones y fact en Warehouse</a:t>
            </a:r>
          </a:p>
        </p:txBody>
      </p:sp>
      <p:sp>
        <p:nvSpPr>
          <p:cNvPr id="28" name="Rectangle 27"/>
          <p:cNvSpPr/>
          <p:nvPr/>
        </p:nvSpPr>
        <p:spPr>
          <a:xfrm>
            <a:off x="6373368" y="3118104"/>
            <a:ext cx="48920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4807" y="3209544"/>
            <a:ext cx="4709159" cy="146304"/>
          </a:xfrm>
          <a:prstGeom prst="rect">
            <a:avLst/>
          </a:prstGeom>
          <a:noFill/>
        </p:spPr>
        <p:txBody>
          <a:bodyPr wrap="square">
            <a:normAutofit/>
          </a:bodyPr>
          <a:lstStyle/>
          <a:p>
            <a:r>
              <a:rPr sz="780" b="0">
                <a:solidFill>
                  <a:srgbClr val="232B38"/>
                </a:solidFill>
                <a:latin typeface="Segoe UI"/>
              </a:rPr>
              <a:t>Transform/query: star schema, SQL y datos para analisis</a:t>
            </a:r>
          </a:p>
        </p:txBody>
      </p:sp>
      <p:sp>
        <p:nvSpPr>
          <p:cNvPr id="30" name="Rectangle 29"/>
          <p:cNvSpPr/>
          <p:nvPr/>
        </p:nvSpPr>
        <p:spPr>
          <a:xfrm>
            <a:off x="658368" y="3575304"/>
            <a:ext cx="242316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3666744"/>
            <a:ext cx="2240279" cy="146304"/>
          </a:xfrm>
          <a:prstGeom prst="rect">
            <a:avLst/>
          </a:prstGeom>
          <a:noFill/>
        </p:spPr>
        <p:txBody>
          <a:bodyPr wrap="square">
            <a:normAutofit/>
          </a:bodyPr>
          <a:lstStyle/>
          <a:p>
            <a:r>
              <a:rPr sz="780" b="1">
                <a:solidFill>
                  <a:srgbClr val="232B38"/>
                </a:solidFill>
                <a:latin typeface="Segoe UI"/>
              </a:rPr>
              <a:t>Semantic</a:t>
            </a:r>
          </a:p>
        </p:txBody>
      </p:sp>
      <p:sp>
        <p:nvSpPr>
          <p:cNvPr id="32" name="Rectangle 31"/>
          <p:cNvSpPr/>
          <p:nvPr/>
        </p:nvSpPr>
        <p:spPr>
          <a:xfrm>
            <a:off x="3081528" y="3575304"/>
            <a:ext cx="32918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72968" y="3666744"/>
            <a:ext cx="3108960" cy="146304"/>
          </a:xfrm>
          <a:prstGeom prst="rect">
            <a:avLst/>
          </a:prstGeom>
          <a:noFill/>
        </p:spPr>
        <p:txBody>
          <a:bodyPr wrap="square">
            <a:normAutofit/>
          </a:bodyPr>
          <a:lstStyle/>
          <a:p>
            <a:r>
              <a:rPr sz="780" b="0">
                <a:solidFill>
                  <a:srgbClr val="232B38"/>
                </a:solidFill>
                <a:latin typeface="Segoe UI"/>
              </a:rPr>
              <a:t>Relaciones y DAX</a:t>
            </a:r>
          </a:p>
        </p:txBody>
      </p:sp>
      <p:sp>
        <p:nvSpPr>
          <p:cNvPr id="34" name="Rectangle 33"/>
          <p:cNvSpPr/>
          <p:nvPr/>
        </p:nvSpPr>
        <p:spPr>
          <a:xfrm>
            <a:off x="6373368" y="3575304"/>
            <a:ext cx="48920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4807" y="3666744"/>
            <a:ext cx="4709159" cy="146304"/>
          </a:xfrm>
          <a:prstGeom prst="rect">
            <a:avLst/>
          </a:prstGeom>
          <a:noFill/>
        </p:spPr>
        <p:txBody>
          <a:bodyPr wrap="square">
            <a:normAutofit/>
          </a:bodyPr>
          <a:lstStyle/>
          <a:p>
            <a:r>
              <a:rPr sz="780" b="0">
                <a:solidFill>
                  <a:srgbClr val="232B38"/>
                </a:solidFill>
                <a:latin typeface="Segoe UI"/>
              </a:rPr>
              <a:t>Semantic models: relaciones, calculos y storage mode</a:t>
            </a:r>
          </a:p>
        </p:txBody>
      </p:sp>
      <p:sp>
        <p:nvSpPr>
          <p:cNvPr id="36" name="Rectangle 35"/>
          <p:cNvSpPr/>
          <p:nvPr/>
        </p:nvSpPr>
        <p:spPr>
          <a:xfrm>
            <a:off x="658368" y="4032504"/>
            <a:ext cx="242316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8" y="4123944"/>
            <a:ext cx="2240279" cy="146304"/>
          </a:xfrm>
          <a:prstGeom prst="rect">
            <a:avLst/>
          </a:prstGeom>
          <a:noFill/>
        </p:spPr>
        <p:txBody>
          <a:bodyPr wrap="square">
            <a:normAutofit/>
          </a:bodyPr>
          <a:lstStyle/>
          <a:p>
            <a:r>
              <a:rPr sz="780" b="1">
                <a:solidFill>
                  <a:srgbClr val="232B38"/>
                </a:solidFill>
                <a:latin typeface="Segoe UI"/>
              </a:rPr>
              <a:t>Maintain</a:t>
            </a:r>
          </a:p>
        </p:txBody>
      </p:sp>
      <p:sp>
        <p:nvSpPr>
          <p:cNvPr id="38" name="Rectangle 37"/>
          <p:cNvSpPr/>
          <p:nvPr/>
        </p:nvSpPr>
        <p:spPr>
          <a:xfrm>
            <a:off x="3081528" y="4032504"/>
            <a:ext cx="32918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72968" y="4123944"/>
            <a:ext cx="3108960" cy="146304"/>
          </a:xfrm>
          <a:prstGeom prst="rect">
            <a:avLst/>
          </a:prstGeom>
          <a:noFill/>
        </p:spPr>
        <p:txBody>
          <a:bodyPr wrap="square">
            <a:normAutofit/>
          </a:bodyPr>
          <a:lstStyle/>
          <a:p>
            <a:r>
              <a:rPr sz="780" b="0">
                <a:solidFill>
                  <a:srgbClr val="232B38"/>
                </a:solidFill>
                <a:latin typeface="Segoe UI"/>
              </a:rPr>
              <a:t>RLS, lineage, impact y deploy</a:t>
            </a:r>
          </a:p>
        </p:txBody>
      </p:sp>
      <p:sp>
        <p:nvSpPr>
          <p:cNvPr id="40" name="Rectangle 39"/>
          <p:cNvSpPr/>
          <p:nvPr/>
        </p:nvSpPr>
        <p:spPr>
          <a:xfrm>
            <a:off x="6373368" y="4032504"/>
            <a:ext cx="48920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64807" y="4123944"/>
            <a:ext cx="4709159" cy="146304"/>
          </a:xfrm>
          <a:prstGeom prst="rect">
            <a:avLst/>
          </a:prstGeom>
          <a:noFill/>
        </p:spPr>
        <p:txBody>
          <a:bodyPr wrap="square">
            <a:normAutofit/>
          </a:bodyPr>
          <a:lstStyle/>
          <a:p>
            <a:r>
              <a:rPr sz="780" b="0">
                <a:solidFill>
                  <a:srgbClr val="232B38"/>
                </a:solidFill>
                <a:latin typeface="Segoe UI"/>
              </a:rPr>
              <a:t>Maintain: seguridad, gobierno y lifecycle</a:t>
            </a:r>
          </a:p>
        </p:txBody>
      </p:sp>
      <p:sp>
        <p:nvSpPr>
          <p:cNvPr id="42" name="TextBox 41"/>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43" name="Rectangle 42"/>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45" name="TextBox 44"/>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8-15 MIN | ARQUITECTURA</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Modelo dimensional final</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El modelo estrella se crea en Gold, no en Silver.</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783080"/>
            <a:ext cx="2423160" cy="420624"/>
          </a:xfrm>
          <a:prstGeom prst="rect">
            <a:avLst/>
          </a:prstGeom>
          <a:solidFill>
            <a:srgbClr val="00788C"/>
          </a:solidFill>
          <a:ln>
            <a:solidFill>
              <a:srgbClr val="00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892807"/>
            <a:ext cx="2240279" cy="128016"/>
          </a:xfrm>
          <a:prstGeom prst="rect">
            <a:avLst/>
          </a:prstGeom>
          <a:noFill/>
        </p:spPr>
        <p:txBody>
          <a:bodyPr wrap="square">
            <a:normAutofit/>
          </a:bodyPr>
          <a:lstStyle/>
          <a:p>
            <a:r>
              <a:rPr sz="850" b="1">
                <a:solidFill>
                  <a:srgbClr val="FFFFFF"/>
                </a:solidFill>
                <a:latin typeface="Segoe UI"/>
              </a:rPr>
              <a:t>Tabla</a:t>
            </a:r>
          </a:p>
        </p:txBody>
      </p:sp>
      <p:sp>
        <p:nvSpPr>
          <p:cNvPr id="8" name="Rectangle 7"/>
          <p:cNvSpPr/>
          <p:nvPr/>
        </p:nvSpPr>
        <p:spPr>
          <a:xfrm>
            <a:off x="3081528" y="1783080"/>
            <a:ext cx="3291840" cy="420624"/>
          </a:xfrm>
          <a:prstGeom prst="rect">
            <a:avLst/>
          </a:prstGeom>
          <a:solidFill>
            <a:srgbClr val="00788C"/>
          </a:solidFill>
          <a:ln>
            <a:solidFill>
              <a:srgbClr val="00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72968" y="1892807"/>
            <a:ext cx="3108960" cy="128016"/>
          </a:xfrm>
          <a:prstGeom prst="rect">
            <a:avLst/>
          </a:prstGeom>
          <a:noFill/>
        </p:spPr>
        <p:txBody>
          <a:bodyPr wrap="square">
            <a:normAutofit/>
          </a:bodyPr>
          <a:lstStyle/>
          <a:p>
            <a:r>
              <a:rPr sz="850" b="1">
                <a:solidFill>
                  <a:srgbClr val="FFFFFF"/>
                </a:solidFill>
                <a:latin typeface="Segoe UI"/>
              </a:rPr>
              <a:t>Clave</a:t>
            </a:r>
          </a:p>
        </p:txBody>
      </p:sp>
      <p:sp>
        <p:nvSpPr>
          <p:cNvPr id="10" name="Rectangle 9"/>
          <p:cNvSpPr/>
          <p:nvPr/>
        </p:nvSpPr>
        <p:spPr>
          <a:xfrm>
            <a:off x="6373368" y="1783080"/>
            <a:ext cx="4892040" cy="420624"/>
          </a:xfrm>
          <a:prstGeom prst="rect">
            <a:avLst/>
          </a:prstGeom>
          <a:solidFill>
            <a:srgbClr val="00788C"/>
          </a:solidFill>
          <a:ln>
            <a:solidFill>
              <a:srgbClr val="00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7" y="1892807"/>
            <a:ext cx="4709159" cy="128016"/>
          </a:xfrm>
          <a:prstGeom prst="rect">
            <a:avLst/>
          </a:prstGeom>
          <a:noFill/>
        </p:spPr>
        <p:txBody>
          <a:bodyPr wrap="square">
            <a:normAutofit/>
          </a:bodyPr>
          <a:lstStyle/>
          <a:p>
            <a:r>
              <a:rPr sz="850" b="1">
                <a:solidFill>
                  <a:srgbClr val="FFFFFF"/>
                </a:solidFill>
                <a:latin typeface="Segoe UI"/>
              </a:rPr>
              <a:t>Relacion con fact</a:t>
            </a:r>
          </a:p>
        </p:txBody>
      </p:sp>
      <p:sp>
        <p:nvSpPr>
          <p:cNvPr id="12" name="Rectangle 11"/>
          <p:cNvSpPr/>
          <p:nvPr/>
        </p:nvSpPr>
        <p:spPr>
          <a:xfrm>
            <a:off x="658368" y="2203704"/>
            <a:ext cx="242316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295144"/>
            <a:ext cx="2240279" cy="146304"/>
          </a:xfrm>
          <a:prstGeom prst="rect">
            <a:avLst/>
          </a:prstGeom>
          <a:noFill/>
        </p:spPr>
        <p:txBody>
          <a:bodyPr wrap="square">
            <a:normAutofit/>
          </a:bodyPr>
          <a:lstStyle/>
          <a:p>
            <a:r>
              <a:rPr sz="780" b="1">
                <a:solidFill>
                  <a:srgbClr val="232B38"/>
                </a:solidFill>
                <a:latin typeface="Segoe UI"/>
              </a:rPr>
              <a:t>gold_dim_fecha</a:t>
            </a:r>
          </a:p>
        </p:txBody>
      </p:sp>
      <p:sp>
        <p:nvSpPr>
          <p:cNvPr id="14" name="Rectangle 13"/>
          <p:cNvSpPr/>
          <p:nvPr/>
        </p:nvSpPr>
        <p:spPr>
          <a:xfrm>
            <a:off x="3081528" y="2203704"/>
            <a:ext cx="32918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72968" y="2295144"/>
            <a:ext cx="3108960" cy="146304"/>
          </a:xfrm>
          <a:prstGeom prst="rect">
            <a:avLst/>
          </a:prstGeom>
          <a:noFill/>
        </p:spPr>
        <p:txBody>
          <a:bodyPr wrap="square">
            <a:normAutofit/>
          </a:bodyPr>
          <a:lstStyle/>
          <a:p>
            <a:r>
              <a:rPr sz="780" b="0">
                <a:solidFill>
                  <a:srgbClr val="232B38"/>
                </a:solidFill>
                <a:latin typeface="Segoe UI"/>
              </a:rPr>
              <a:t>FechaKey</a:t>
            </a:r>
          </a:p>
        </p:txBody>
      </p:sp>
      <p:sp>
        <p:nvSpPr>
          <p:cNvPr id="16" name="Rectangle 15"/>
          <p:cNvSpPr/>
          <p:nvPr/>
        </p:nvSpPr>
        <p:spPr>
          <a:xfrm>
            <a:off x="6373368" y="2203704"/>
            <a:ext cx="48920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7" y="2295144"/>
            <a:ext cx="4709159" cy="146304"/>
          </a:xfrm>
          <a:prstGeom prst="rect">
            <a:avLst/>
          </a:prstGeom>
          <a:noFill/>
        </p:spPr>
        <p:txBody>
          <a:bodyPr wrap="square">
            <a:normAutofit/>
          </a:bodyPr>
          <a:lstStyle/>
          <a:p>
            <a:r>
              <a:rPr sz="780" b="0">
                <a:solidFill>
                  <a:srgbClr val="232B38"/>
                </a:solidFill>
                <a:latin typeface="Segoe UI"/>
              </a:rPr>
              <a:t>gold_fact_ventas[FechaKey]</a:t>
            </a:r>
          </a:p>
        </p:txBody>
      </p:sp>
      <p:sp>
        <p:nvSpPr>
          <p:cNvPr id="18" name="Rectangle 17"/>
          <p:cNvSpPr/>
          <p:nvPr/>
        </p:nvSpPr>
        <p:spPr>
          <a:xfrm>
            <a:off x="658368" y="2660904"/>
            <a:ext cx="242316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752344"/>
            <a:ext cx="2240279" cy="146304"/>
          </a:xfrm>
          <a:prstGeom prst="rect">
            <a:avLst/>
          </a:prstGeom>
          <a:noFill/>
        </p:spPr>
        <p:txBody>
          <a:bodyPr wrap="square">
            <a:normAutofit/>
          </a:bodyPr>
          <a:lstStyle/>
          <a:p>
            <a:r>
              <a:rPr sz="780" b="1">
                <a:solidFill>
                  <a:srgbClr val="232B38"/>
                </a:solidFill>
                <a:latin typeface="Segoe UI"/>
              </a:rPr>
              <a:t>gold_dim_cliente</a:t>
            </a:r>
          </a:p>
        </p:txBody>
      </p:sp>
      <p:sp>
        <p:nvSpPr>
          <p:cNvPr id="20" name="Rectangle 19"/>
          <p:cNvSpPr/>
          <p:nvPr/>
        </p:nvSpPr>
        <p:spPr>
          <a:xfrm>
            <a:off x="3081528" y="2660904"/>
            <a:ext cx="32918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72968" y="2752344"/>
            <a:ext cx="3108960" cy="146304"/>
          </a:xfrm>
          <a:prstGeom prst="rect">
            <a:avLst/>
          </a:prstGeom>
          <a:noFill/>
        </p:spPr>
        <p:txBody>
          <a:bodyPr wrap="square">
            <a:normAutofit/>
          </a:bodyPr>
          <a:lstStyle/>
          <a:p>
            <a:r>
              <a:rPr sz="780" b="0">
                <a:solidFill>
                  <a:srgbClr val="232B38"/>
                </a:solidFill>
                <a:latin typeface="Segoe UI"/>
              </a:rPr>
              <a:t>ClienteKey</a:t>
            </a:r>
          </a:p>
        </p:txBody>
      </p:sp>
      <p:sp>
        <p:nvSpPr>
          <p:cNvPr id="22" name="Rectangle 21"/>
          <p:cNvSpPr/>
          <p:nvPr/>
        </p:nvSpPr>
        <p:spPr>
          <a:xfrm>
            <a:off x="6373368" y="2660904"/>
            <a:ext cx="48920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7" y="2752344"/>
            <a:ext cx="4709159" cy="146304"/>
          </a:xfrm>
          <a:prstGeom prst="rect">
            <a:avLst/>
          </a:prstGeom>
          <a:noFill/>
        </p:spPr>
        <p:txBody>
          <a:bodyPr wrap="square">
            <a:normAutofit/>
          </a:bodyPr>
          <a:lstStyle/>
          <a:p>
            <a:r>
              <a:rPr sz="780" b="0">
                <a:solidFill>
                  <a:srgbClr val="232B38"/>
                </a:solidFill>
                <a:latin typeface="Segoe UI"/>
              </a:rPr>
              <a:t>gold_fact_ventas[ClienteKey]</a:t>
            </a:r>
          </a:p>
        </p:txBody>
      </p:sp>
      <p:sp>
        <p:nvSpPr>
          <p:cNvPr id="24" name="Rectangle 23"/>
          <p:cNvSpPr/>
          <p:nvPr/>
        </p:nvSpPr>
        <p:spPr>
          <a:xfrm>
            <a:off x="658368" y="3118104"/>
            <a:ext cx="242316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209544"/>
            <a:ext cx="2240279" cy="146304"/>
          </a:xfrm>
          <a:prstGeom prst="rect">
            <a:avLst/>
          </a:prstGeom>
          <a:noFill/>
        </p:spPr>
        <p:txBody>
          <a:bodyPr wrap="square">
            <a:normAutofit/>
          </a:bodyPr>
          <a:lstStyle/>
          <a:p>
            <a:r>
              <a:rPr sz="780" b="1">
                <a:solidFill>
                  <a:srgbClr val="232B38"/>
                </a:solidFill>
                <a:latin typeface="Segoe UI"/>
              </a:rPr>
              <a:t>gold_dim_producto</a:t>
            </a:r>
          </a:p>
        </p:txBody>
      </p:sp>
      <p:sp>
        <p:nvSpPr>
          <p:cNvPr id="26" name="Rectangle 25"/>
          <p:cNvSpPr/>
          <p:nvPr/>
        </p:nvSpPr>
        <p:spPr>
          <a:xfrm>
            <a:off x="3081528" y="3118104"/>
            <a:ext cx="32918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72968" y="3209544"/>
            <a:ext cx="3108960" cy="146304"/>
          </a:xfrm>
          <a:prstGeom prst="rect">
            <a:avLst/>
          </a:prstGeom>
          <a:noFill/>
        </p:spPr>
        <p:txBody>
          <a:bodyPr wrap="square">
            <a:normAutofit/>
          </a:bodyPr>
          <a:lstStyle/>
          <a:p>
            <a:r>
              <a:rPr sz="780" b="0">
                <a:solidFill>
                  <a:srgbClr val="232B38"/>
                </a:solidFill>
                <a:latin typeface="Segoe UI"/>
              </a:rPr>
              <a:t>ProductoKey</a:t>
            </a:r>
          </a:p>
        </p:txBody>
      </p:sp>
      <p:sp>
        <p:nvSpPr>
          <p:cNvPr id="28" name="Rectangle 27"/>
          <p:cNvSpPr/>
          <p:nvPr/>
        </p:nvSpPr>
        <p:spPr>
          <a:xfrm>
            <a:off x="6373368" y="3118104"/>
            <a:ext cx="48920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4807" y="3209544"/>
            <a:ext cx="4709159" cy="146304"/>
          </a:xfrm>
          <a:prstGeom prst="rect">
            <a:avLst/>
          </a:prstGeom>
          <a:noFill/>
        </p:spPr>
        <p:txBody>
          <a:bodyPr wrap="square">
            <a:normAutofit/>
          </a:bodyPr>
          <a:lstStyle/>
          <a:p>
            <a:r>
              <a:rPr sz="780" b="0">
                <a:solidFill>
                  <a:srgbClr val="232B38"/>
                </a:solidFill>
                <a:latin typeface="Segoe UI"/>
              </a:rPr>
              <a:t>gold_fact_ventas[ProductoKey]</a:t>
            </a:r>
          </a:p>
        </p:txBody>
      </p:sp>
      <p:sp>
        <p:nvSpPr>
          <p:cNvPr id="30" name="Rectangle 29"/>
          <p:cNvSpPr/>
          <p:nvPr/>
        </p:nvSpPr>
        <p:spPr>
          <a:xfrm>
            <a:off x="658368" y="3575304"/>
            <a:ext cx="242316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3666744"/>
            <a:ext cx="2240279" cy="146304"/>
          </a:xfrm>
          <a:prstGeom prst="rect">
            <a:avLst/>
          </a:prstGeom>
          <a:noFill/>
        </p:spPr>
        <p:txBody>
          <a:bodyPr wrap="square">
            <a:normAutofit/>
          </a:bodyPr>
          <a:lstStyle/>
          <a:p>
            <a:r>
              <a:rPr sz="780" b="1">
                <a:solidFill>
                  <a:srgbClr val="232B38"/>
                </a:solidFill>
                <a:latin typeface="Segoe UI"/>
              </a:rPr>
              <a:t>gold_dim_region</a:t>
            </a:r>
          </a:p>
        </p:txBody>
      </p:sp>
      <p:sp>
        <p:nvSpPr>
          <p:cNvPr id="32" name="Rectangle 31"/>
          <p:cNvSpPr/>
          <p:nvPr/>
        </p:nvSpPr>
        <p:spPr>
          <a:xfrm>
            <a:off x="3081528" y="3575304"/>
            <a:ext cx="32918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72968" y="3666744"/>
            <a:ext cx="3108960" cy="146304"/>
          </a:xfrm>
          <a:prstGeom prst="rect">
            <a:avLst/>
          </a:prstGeom>
          <a:noFill/>
        </p:spPr>
        <p:txBody>
          <a:bodyPr wrap="square">
            <a:normAutofit/>
          </a:bodyPr>
          <a:lstStyle/>
          <a:p>
            <a:r>
              <a:rPr sz="780" b="0">
                <a:solidFill>
                  <a:srgbClr val="232B38"/>
                </a:solidFill>
                <a:latin typeface="Segoe UI"/>
              </a:rPr>
              <a:t>RegionKey</a:t>
            </a:r>
          </a:p>
        </p:txBody>
      </p:sp>
      <p:sp>
        <p:nvSpPr>
          <p:cNvPr id="34" name="Rectangle 33"/>
          <p:cNvSpPr/>
          <p:nvPr/>
        </p:nvSpPr>
        <p:spPr>
          <a:xfrm>
            <a:off x="6373368" y="3575304"/>
            <a:ext cx="48920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4807" y="3666744"/>
            <a:ext cx="4709159" cy="146304"/>
          </a:xfrm>
          <a:prstGeom prst="rect">
            <a:avLst/>
          </a:prstGeom>
          <a:noFill/>
        </p:spPr>
        <p:txBody>
          <a:bodyPr wrap="square">
            <a:normAutofit/>
          </a:bodyPr>
          <a:lstStyle/>
          <a:p>
            <a:r>
              <a:rPr sz="780" b="0">
                <a:solidFill>
                  <a:srgbClr val="232B38"/>
                </a:solidFill>
                <a:latin typeface="Segoe UI"/>
              </a:rPr>
              <a:t>gold_fact_ventas[RegionKey]</a:t>
            </a:r>
          </a:p>
        </p:txBody>
      </p:sp>
      <p:sp>
        <p:nvSpPr>
          <p:cNvPr id="36" name="Rectangle 35"/>
          <p:cNvSpPr/>
          <p:nvPr/>
        </p:nvSpPr>
        <p:spPr>
          <a:xfrm>
            <a:off x="658368" y="4032504"/>
            <a:ext cx="242316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8" y="4123944"/>
            <a:ext cx="2240279" cy="146304"/>
          </a:xfrm>
          <a:prstGeom prst="rect">
            <a:avLst/>
          </a:prstGeom>
          <a:noFill/>
        </p:spPr>
        <p:txBody>
          <a:bodyPr wrap="square">
            <a:normAutofit/>
          </a:bodyPr>
          <a:lstStyle/>
          <a:p>
            <a:r>
              <a:rPr sz="780" b="1">
                <a:solidFill>
                  <a:srgbClr val="232B38"/>
                </a:solidFill>
                <a:latin typeface="Segoe UI"/>
              </a:rPr>
              <a:t>gold_dim_vendedor</a:t>
            </a:r>
          </a:p>
        </p:txBody>
      </p:sp>
      <p:sp>
        <p:nvSpPr>
          <p:cNvPr id="38" name="Rectangle 37"/>
          <p:cNvSpPr/>
          <p:nvPr/>
        </p:nvSpPr>
        <p:spPr>
          <a:xfrm>
            <a:off x="3081528" y="4032504"/>
            <a:ext cx="32918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72968" y="4123944"/>
            <a:ext cx="3108960" cy="146304"/>
          </a:xfrm>
          <a:prstGeom prst="rect">
            <a:avLst/>
          </a:prstGeom>
          <a:noFill/>
        </p:spPr>
        <p:txBody>
          <a:bodyPr wrap="square">
            <a:normAutofit/>
          </a:bodyPr>
          <a:lstStyle/>
          <a:p>
            <a:r>
              <a:rPr sz="780" b="0">
                <a:solidFill>
                  <a:srgbClr val="232B38"/>
                </a:solidFill>
                <a:latin typeface="Segoe UI"/>
              </a:rPr>
              <a:t>VendedorKey</a:t>
            </a:r>
          </a:p>
        </p:txBody>
      </p:sp>
      <p:sp>
        <p:nvSpPr>
          <p:cNvPr id="40" name="Rectangle 39"/>
          <p:cNvSpPr/>
          <p:nvPr/>
        </p:nvSpPr>
        <p:spPr>
          <a:xfrm>
            <a:off x="6373368" y="4032504"/>
            <a:ext cx="48920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64807" y="4123944"/>
            <a:ext cx="4709159" cy="146304"/>
          </a:xfrm>
          <a:prstGeom prst="rect">
            <a:avLst/>
          </a:prstGeom>
          <a:noFill/>
        </p:spPr>
        <p:txBody>
          <a:bodyPr wrap="square">
            <a:normAutofit/>
          </a:bodyPr>
          <a:lstStyle/>
          <a:p>
            <a:r>
              <a:rPr sz="780" b="0">
                <a:solidFill>
                  <a:srgbClr val="232B38"/>
                </a:solidFill>
                <a:latin typeface="Segoe UI"/>
              </a:rPr>
              <a:t>gold_fact_ventas[VendedorKey]</a:t>
            </a:r>
          </a:p>
        </p:txBody>
      </p:sp>
      <p:sp>
        <p:nvSpPr>
          <p:cNvPr id="42" name="Rectangle 41"/>
          <p:cNvSpPr/>
          <p:nvPr/>
        </p:nvSpPr>
        <p:spPr>
          <a:xfrm>
            <a:off x="658368" y="4489704"/>
            <a:ext cx="242316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9808" y="4581144"/>
            <a:ext cx="2240279" cy="146304"/>
          </a:xfrm>
          <a:prstGeom prst="rect">
            <a:avLst/>
          </a:prstGeom>
          <a:noFill/>
        </p:spPr>
        <p:txBody>
          <a:bodyPr wrap="square">
            <a:normAutofit/>
          </a:bodyPr>
          <a:lstStyle/>
          <a:p>
            <a:r>
              <a:rPr sz="780" b="1">
                <a:solidFill>
                  <a:srgbClr val="232B38"/>
                </a:solidFill>
                <a:latin typeface="Segoe UI"/>
              </a:rPr>
              <a:t>gold_fact_ventas</a:t>
            </a:r>
          </a:p>
        </p:txBody>
      </p:sp>
      <p:sp>
        <p:nvSpPr>
          <p:cNvPr id="44" name="Rectangle 43"/>
          <p:cNvSpPr/>
          <p:nvPr/>
        </p:nvSpPr>
        <p:spPr>
          <a:xfrm>
            <a:off x="3081528" y="4489704"/>
            <a:ext cx="32918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172968" y="4581144"/>
            <a:ext cx="3108960" cy="146304"/>
          </a:xfrm>
          <a:prstGeom prst="rect">
            <a:avLst/>
          </a:prstGeom>
          <a:noFill/>
        </p:spPr>
        <p:txBody>
          <a:bodyPr wrap="square">
            <a:normAutofit/>
          </a:bodyPr>
          <a:lstStyle/>
          <a:p>
            <a:r>
              <a:rPr sz="780" b="0">
                <a:solidFill>
                  <a:srgbClr val="232B38"/>
                </a:solidFill>
                <a:latin typeface="Segoe UI"/>
              </a:rPr>
              <a:t>VentaID</a:t>
            </a:r>
          </a:p>
        </p:txBody>
      </p:sp>
      <p:sp>
        <p:nvSpPr>
          <p:cNvPr id="46" name="Rectangle 45"/>
          <p:cNvSpPr/>
          <p:nvPr/>
        </p:nvSpPr>
        <p:spPr>
          <a:xfrm>
            <a:off x="6373368" y="4489704"/>
            <a:ext cx="48920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4807" y="4581144"/>
            <a:ext cx="4709159" cy="146304"/>
          </a:xfrm>
          <a:prstGeom prst="rect">
            <a:avLst/>
          </a:prstGeom>
          <a:noFill/>
        </p:spPr>
        <p:txBody>
          <a:bodyPr wrap="square">
            <a:normAutofit/>
          </a:bodyPr>
          <a:lstStyle/>
          <a:p>
            <a:r>
              <a:rPr sz="780" b="0">
                <a:solidFill>
                  <a:srgbClr val="232B38"/>
                </a:solidFill>
                <a:latin typeface="Segoe UI"/>
              </a:rPr>
              <a:t>Tabla central del modelo</a:t>
            </a:r>
          </a:p>
        </p:txBody>
      </p:sp>
      <p:sp>
        <p:nvSpPr>
          <p:cNvPr id="48" name="TextBox 4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49" name="Rectangle 4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51" name="TextBox 5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15-30 MIN | BRONZE</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Pasos Bronze</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CSV manual a una tabla Delta unica usando PySpark.</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883664"/>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332720" cy="347472"/>
          </a:xfrm>
          <a:prstGeom prst="rect">
            <a:avLst/>
          </a:prstGeom>
          <a:noFill/>
        </p:spPr>
        <p:txBody>
          <a:bodyPr wrap="square">
            <a:normAutofit/>
          </a:bodyPr>
          <a:lstStyle/>
          <a:p>
            <a:r>
              <a:rPr sz="1500" b="0">
                <a:solidFill>
                  <a:srgbClr val="232B38"/>
                </a:solidFill>
                <a:latin typeface="Segoe UI"/>
              </a:rPr>
              <a:t>En LK_bronce, crear carpeta Files/landing.</a:t>
            </a:r>
          </a:p>
        </p:txBody>
      </p:sp>
      <p:sp>
        <p:nvSpPr>
          <p:cNvPr id="8" name="Oval 7"/>
          <p:cNvSpPr/>
          <p:nvPr/>
        </p:nvSpPr>
        <p:spPr>
          <a:xfrm>
            <a:off x="758952" y="2450592"/>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95728"/>
            <a:ext cx="10332720" cy="347472"/>
          </a:xfrm>
          <a:prstGeom prst="rect">
            <a:avLst/>
          </a:prstGeom>
          <a:noFill/>
        </p:spPr>
        <p:txBody>
          <a:bodyPr wrap="square">
            <a:normAutofit/>
          </a:bodyPr>
          <a:lstStyle/>
          <a:p>
            <a:r>
              <a:rPr sz="1500" b="0">
                <a:solidFill>
                  <a:srgbClr val="232B38"/>
                </a:solidFill>
                <a:latin typeface="Segoe UI"/>
              </a:rPr>
              <a:t>Subir manualmente ventas360_sabana_unica.csv.</a:t>
            </a:r>
          </a:p>
        </p:txBody>
      </p:sp>
      <p:sp>
        <p:nvSpPr>
          <p:cNvPr id="10" name="Oval 9"/>
          <p:cNvSpPr/>
          <p:nvPr/>
        </p:nvSpPr>
        <p:spPr>
          <a:xfrm>
            <a:off x="758952" y="3017520"/>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62656"/>
            <a:ext cx="10332720" cy="347472"/>
          </a:xfrm>
          <a:prstGeom prst="rect">
            <a:avLst/>
          </a:prstGeom>
          <a:noFill/>
        </p:spPr>
        <p:txBody>
          <a:bodyPr wrap="square">
            <a:normAutofit/>
          </a:bodyPr>
          <a:lstStyle/>
          <a:p>
            <a:r>
              <a:rPr sz="1500" b="0">
                <a:solidFill>
                  <a:srgbClr val="232B38"/>
                </a:solidFill>
                <a:latin typeface="Segoe UI"/>
              </a:rPr>
              <a:t>Crear notebook NB_01_CSV_a_Delta_Unica.</a:t>
            </a:r>
          </a:p>
        </p:txBody>
      </p:sp>
      <p:sp>
        <p:nvSpPr>
          <p:cNvPr id="12" name="Oval 11"/>
          <p:cNvSpPr/>
          <p:nvPr/>
        </p:nvSpPr>
        <p:spPr>
          <a:xfrm>
            <a:off x="758952" y="3584448"/>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29584"/>
            <a:ext cx="10332720" cy="347472"/>
          </a:xfrm>
          <a:prstGeom prst="rect">
            <a:avLst/>
          </a:prstGeom>
          <a:noFill/>
        </p:spPr>
        <p:txBody>
          <a:bodyPr wrap="square">
            <a:normAutofit/>
          </a:bodyPr>
          <a:lstStyle/>
          <a:p>
            <a:r>
              <a:rPr sz="1500" b="0">
                <a:solidFill>
                  <a:srgbClr val="232B38"/>
                </a:solidFill>
                <a:latin typeface="Segoe UI"/>
              </a:rPr>
              <a:t>Adjuntar LK_bronce como Lakehouse default del notebook.</a:t>
            </a:r>
          </a:p>
        </p:txBody>
      </p:sp>
      <p:sp>
        <p:nvSpPr>
          <p:cNvPr id="14" name="Oval 13"/>
          <p:cNvSpPr/>
          <p:nvPr/>
        </p:nvSpPr>
        <p:spPr>
          <a:xfrm>
            <a:off x="758952" y="4151376"/>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096512"/>
            <a:ext cx="10332720" cy="347472"/>
          </a:xfrm>
          <a:prstGeom prst="rect">
            <a:avLst/>
          </a:prstGeom>
          <a:noFill/>
        </p:spPr>
        <p:txBody>
          <a:bodyPr wrap="square">
            <a:normAutofit/>
          </a:bodyPr>
          <a:lstStyle/>
          <a:p>
            <a:r>
              <a:rPr sz="1500" b="0">
                <a:solidFill>
                  <a:srgbClr val="232B38"/>
                </a:solidFill>
                <a:latin typeface="Segoe UI"/>
              </a:rPr>
              <a:t>Ejecutar el codigo para crear dbo.ventas360_delta_unica.</a:t>
            </a:r>
          </a:p>
        </p:txBody>
      </p:sp>
      <p:sp>
        <p:nvSpPr>
          <p:cNvPr id="16" name="TextBox 15"/>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17" name="Rectangle 16"/>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9" name="TextBox 18"/>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15-30 MIN | BRONZE</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Bronze y DP-600</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Esta fase entrena la entrada controlada de datos a Fabric.</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883664"/>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332720" cy="347472"/>
          </a:xfrm>
          <a:prstGeom prst="rect">
            <a:avLst/>
          </a:prstGeom>
          <a:noFill/>
        </p:spPr>
        <p:txBody>
          <a:bodyPr wrap="square">
            <a:normAutofit/>
          </a:bodyPr>
          <a:lstStyle/>
          <a:p>
            <a:r>
              <a:rPr sz="1500" b="0">
                <a:solidFill>
                  <a:srgbClr val="232B38"/>
                </a:solidFill>
                <a:latin typeface="Segoe UI"/>
              </a:rPr>
              <a:t>Practica Get data: subir un origen, acceder al archivo y convertirlo en tabla analitica.</a:t>
            </a:r>
          </a:p>
        </p:txBody>
      </p:sp>
      <p:sp>
        <p:nvSpPr>
          <p:cNvPr id="8" name="Oval 7"/>
          <p:cNvSpPr/>
          <p:nvPr/>
        </p:nvSpPr>
        <p:spPr>
          <a:xfrm>
            <a:off x="758952" y="2450592"/>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95728"/>
            <a:ext cx="10332720" cy="347472"/>
          </a:xfrm>
          <a:prstGeom prst="rect">
            <a:avLst/>
          </a:prstGeom>
          <a:noFill/>
        </p:spPr>
        <p:txBody>
          <a:bodyPr wrap="square">
            <a:normAutofit/>
          </a:bodyPr>
          <a:lstStyle/>
          <a:p>
            <a:r>
              <a:rPr sz="1500" b="0">
                <a:solidFill>
                  <a:srgbClr val="232B38"/>
                </a:solidFill>
                <a:latin typeface="Segoe UI"/>
              </a:rPr>
              <a:t>Refuerza la decision de data store: Lakehouse para archivos y tablas Delta.</a:t>
            </a:r>
          </a:p>
        </p:txBody>
      </p:sp>
      <p:sp>
        <p:nvSpPr>
          <p:cNvPr id="10" name="Oval 9"/>
          <p:cNvSpPr/>
          <p:nvPr/>
        </p:nvSpPr>
        <p:spPr>
          <a:xfrm>
            <a:off x="758952" y="3017520"/>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62656"/>
            <a:ext cx="10332720" cy="347472"/>
          </a:xfrm>
          <a:prstGeom prst="rect">
            <a:avLst/>
          </a:prstGeom>
          <a:noFill/>
        </p:spPr>
        <p:txBody>
          <a:bodyPr wrap="square">
            <a:normAutofit/>
          </a:bodyPr>
          <a:lstStyle/>
          <a:p>
            <a:r>
              <a:rPr sz="1500" b="0">
                <a:solidFill>
                  <a:srgbClr val="232B38"/>
                </a:solidFill>
                <a:latin typeface="Segoe UI"/>
              </a:rPr>
              <a:t>Demuestra uso de notebook para controlar lectura, esquema, tipos iniciales y escritura Delta.</a:t>
            </a:r>
          </a:p>
        </p:txBody>
      </p:sp>
      <p:sp>
        <p:nvSpPr>
          <p:cNvPr id="12" name="Oval 11"/>
          <p:cNvSpPr/>
          <p:nvPr/>
        </p:nvSpPr>
        <p:spPr>
          <a:xfrm>
            <a:off x="758952" y="3584448"/>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29584"/>
            <a:ext cx="10332720" cy="347472"/>
          </a:xfrm>
          <a:prstGeom prst="rect">
            <a:avLst/>
          </a:prstGeom>
          <a:noFill/>
        </p:spPr>
        <p:txBody>
          <a:bodyPr wrap="square">
            <a:normAutofit/>
          </a:bodyPr>
          <a:lstStyle/>
          <a:p>
            <a:r>
              <a:rPr sz="1500" b="0">
                <a:solidFill>
                  <a:srgbClr val="232B38"/>
                </a:solidFill>
                <a:latin typeface="Segoe UI"/>
              </a:rPr>
              <a:t>Prepara evidencia tecnica: conteo de filas, columnas cargadas y vista previa.</a:t>
            </a:r>
          </a:p>
        </p:txBody>
      </p:sp>
      <p:sp>
        <p:nvSpPr>
          <p:cNvPr id="14" name="Oval 13"/>
          <p:cNvSpPr/>
          <p:nvPr/>
        </p:nvSpPr>
        <p:spPr>
          <a:xfrm>
            <a:off x="758952" y="4151376"/>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096512"/>
            <a:ext cx="10332720" cy="347472"/>
          </a:xfrm>
          <a:prstGeom prst="rect">
            <a:avLst/>
          </a:prstGeom>
          <a:noFill/>
        </p:spPr>
        <p:txBody>
          <a:bodyPr wrap="square">
            <a:normAutofit/>
          </a:bodyPr>
          <a:lstStyle/>
          <a:p>
            <a:r>
              <a:rPr sz="1500" b="0">
                <a:solidFill>
                  <a:srgbClr val="232B38"/>
                </a:solidFill>
                <a:latin typeface="Segoe UI"/>
              </a:rPr>
              <a:t>Conecta con preguntas del examen donde debes elegir entre Lakehouse, Warehouse, Dataflow, Pipeline o Notebook.</a:t>
            </a:r>
          </a:p>
        </p:txBody>
      </p:sp>
      <p:sp>
        <p:nvSpPr>
          <p:cNvPr id="16" name="TextBox 15"/>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17" name="Rectangle 16"/>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9" name="TextBox 18"/>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15-30 MIN | BRONZE</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Preguntas tipo DP-600 - Bronze</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CSV manual, Lakehouse, notebook y tabla Delta.</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37360"/>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83664"/>
            <a:ext cx="512064" cy="292608"/>
          </a:xfrm>
          <a:prstGeom prst="round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947672"/>
            <a:ext cx="274320" cy="91440"/>
          </a:xfrm>
          <a:prstGeom prst="rect">
            <a:avLst/>
          </a:prstGeom>
          <a:noFill/>
        </p:spPr>
        <p:txBody>
          <a:bodyPr wrap="square">
            <a:normAutofit/>
          </a:bodyPr>
          <a:lstStyle/>
          <a:p>
            <a:pPr algn="ctr"/>
            <a:r>
              <a:rPr sz="750" b="1">
                <a:solidFill>
                  <a:srgbClr val="FFFFFF"/>
                </a:solidFill>
                <a:latin typeface="Segoe UI"/>
              </a:rPr>
              <a:t>Q1</a:t>
            </a:r>
          </a:p>
        </p:txBody>
      </p:sp>
      <p:sp>
        <p:nvSpPr>
          <p:cNvPr id="9" name="TextBox 8"/>
          <p:cNvSpPr txBox="1"/>
          <p:nvPr/>
        </p:nvSpPr>
        <p:spPr>
          <a:xfrm>
            <a:off x="1572768" y="1856231"/>
            <a:ext cx="9802368" cy="256032"/>
          </a:xfrm>
          <a:prstGeom prst="rect">
            <a:avLst/>
          </a:prstGeom>
          <a:noFill/>
        </p:spPr>
        <p:txBody>
          <a:bodyPr wrap="square">
            <a:normAutofit/>
          </a:bodyPr>
          <a:lstStyle/>
          <a:p>
            <a:r>
              <a:rPr sz="1080" b="1">
                <a:solidFill>
                  <a:srgbClr val="142640"/>
                </a:solidFill>
                <a:latin typeface="Segoe UI"/>
              </a:rPr>
              <a:t>Tienes un CSV en Files/landing y necesitas controlar lectura, tipos y escritura Delta. Que artefacto encaja mejor?</a:t>
            </a:r>
          </a:p>
        </p:txBody>
      </p:sp>
      <p:sp>
        <p:nvSpPr>
          <p:cNvPr id="10" name="TextBox 9"/>
          <p:cNvSpPr txBox="1"/>
          <p:nvPr/>
        </p:nvSpPr>
        <p:spPr>
          <a:xfrm>
            <a:off x="1572768" y="2212848"/>
            <a:ext cx="9802368" cy="201168"/>
          </a:xfrm>
          <a:prstGeom prst="rect">
            <a:avLst/>
          </a:prstGeom>
          <a:noFill/>
        </p:spPr>
        <p:txBody>
          <a:bodyPr wrap="square">
            <a:normAutofit/>
          </a:bodyPr>
          <a:lstStyle/>
          <a:p>
            <a:r>
              <a:rPr sz="969" b="1">
                <a:solidFill>
                  <a:srgbClr val="232B38"/>
                </a:solidFill>
                <a:latin typeface="Segoe UI"/>
              </a:rPr>
              <a:t>Respuesta: Notebook PySpark.</a:t>
            </a:r>
          </a:p>
        </p:txBody>
      </p:sp>
      <p:sp>
        <p:nvSpPr>
          <p:cNvPr id="11" name="TextBox 10"/>
          <p:cNvSpPr txBox="1"/>
          <p:nvPr/>
        </p:nvSpPr>
        <p:spPr>
          <a:xfrm>
            <a:off x="1572768" y="2487168"/>
            <a:ext cx="9802368" cy="219456"/>
          </a:xfrm>
          <a:prstGeom prst="rect">
            <a:avLst/>
          </a:prstGeom>
          <a:noFill/>
        </p:spPr>
        <p:txBody>
          <a:bodyPr wrap="square">
            <a:normAutofit/>
          </a:bodyPr>
          <a:lstStyle/>
          <a:p>
            <a:r>
              <a:rPr sz="919" b="0">
                <a:solidFill>
                  <a:srgbClr val="55606E"/>
                </a:solidFill>
                <a:latin typeface="Segoe UI"/>
              </a:rPr>
              <a:t>Clave DP-600: Get data evalua ingerir/acceder a datos y elegir la herramienta adecuada.</a:t>
            </a:r>
          </a:p>
        </p:txBody>
      </p:sp>
      <p:sp>
        <p:nvSpPr>
          <p:cNvPr id="12" name="Rounded Rectangle 11"/>
          <p:cNvSpPr/>
          <p:nvPr/>
        </p:nvSpPr>
        <p:spPr>
          <a:xfrm>
            <a:off x="658368" y="3044952"/>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3191256"/>
            <a:ext cx="512064" cy="292608"/>
          </a:xfrm>
          <a:prstGeom prst="roundRect">
            <a:avLst/>
          </a:prstGeom>
          <a:solidFill>
            <a:srgbClr val="346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3255264"/>
            <a:ext cx="274320" cy="91440"/>
          </a:xfrm>
          <a:prstGeom prst="rect">
            <a:avLst/>
          </a:prstGeom>
          <a:noFill/>
        </p:spPr>
        <p:txBody>
          <a:bodyPr wrap="square">
            <a:normAutofit/>
          </a:bodyPr>
          <a:lstStyle/>
          <a:p>
            <a:pPr algn="ctr"/>
            <a:r>
              <a:rPr sz="750" b="1">
                <a:solidFill>
                  <a:srgbClr val="FFFFFF"/>
                </a:solidFill>
                <a:latin typeface="Segoe UI"/>
              </a:rPr>
              <a:t>Q2</a:t>
            </a:r>
          </a:p>
        </p:txBody>
      </p:sp>
      <p:sp>
        <p:nvSpPr>
          <p:cNvPr id="15" name="TextBox 14"/>
          <p:cNvSpPr txBox="1"/>
          <p:nvPr/>
        </p:nvSpPr>
        <p:spPr>
          <a:xfrm>
            <a:off x="1572768" y="3163824"/>
            <a:ext cx="9802368" cy="256032"/>
          </a:xfrm>
          <a:prstGeom prst="rect">
            <a:avLst/>
          </a:prstGeom>
          <a:noFill/>
        </p:spPr>
        <p:txBody>
          <a:bodyPr wrap="square">
            <a:normAutofit/>
          </a:bodyPr>
          <a:lstStyle/>
          <a:p>
            <a:r>
              <a:rPr sz="1080" b="1">
                <a:solidFill>
                  <a:srgbClr val="142640"/>
                </a:solidFill>
                <a:latin typeface="Segoe UI"/>
              </a:rPr>
              <a:t>Por que usar Lakehouse en Bronze en vez de empezar directo en Power BI?</a:t>
            </a:r>
          </a:p>
        </p:txBody>
      </p:sp>
      <p:sp>
        <p:nvSpPr>
          <p:cNvPr id="16" name="TextBox 15"/>
          <p:cNvSpPr txBox="1"/>
          <p:nvPr/>
        </p:nvSpPr>
        <p:spPr>
          <a:xfrm>
            <a:off x="1572768" y="3520440"/>
            <a:ext cx="9802368" cy="201168"/>
          </a:xfrm>
          <a:prstGeom prst="rect">
            <a:avLst/>
          </a:prstGeom>
          <a:noFill/>
        </p:spPr>
        <p:txBody>
          <a:bodyPr wrap="square">
            <a:normAutofit/>
          </a:bodyPr>
          <a:lstStyle/>
          <a:p>
            <a:r>
              <a:rPr sz="969" b="1">
                <a:solidFill>
                  <a:srgbClr val="232B38"/>
                </a:solidFill>
                <a:latin typeface="Segoe UI"/>
              </a:rPr>
              <a:t>Respuesta: Porque Bronze conserva el origen y permite crear tablas Delta reutilizables.</a:t>
            </a:r>
          </a:p>
        </p:txBody>
      </p:sp>
      <p:sp>
        <p:nvSpPr>
          <p:cNvPr id="17" name="TextBox 16"/>
          <p:cNvSpPr txBox="1"/>
          <p:nvPr/>
        </p:nvSpPr>
        <p:spPr>
          <a:xfrm>
            <a:off x="1572768" y="3794760"/>
            <a:ext cx="9802368" cy="219456"/>
          </a:xfrm>
          <a:prstGeom prst="rect">
            <a:avLst/>
          </a:prstGeom>
          <a:noFill/>
        </p:spPr>
        <p:txBody>
          <a:bodyPr wrap="square">
            <a:normAutofit/>
          </a:bodyPr>
          <a:lstStyle/>
          <a:p>
            <a:r>
              <a:rPr sz="919" b="0">
                <a:solidFill>
                  <a:srgbClr val="55606E"/>
                </a:solidFill>
                <a:latin typeface="Segoe UI"/>
              </a:rPr>
              <a:t>Clave DP-600: DP-600 mide eleccion de data stores y preparacion antes del consumo.</a:t>
            </a:r>
          </a:p>
        </p:txBody>
      </p:sp>
      <p:sp>
        <p:nvSpPr>
          <p:cNvPr id="18" name="Rounded Rectangle 17"/>
          <p:cNvSpPr/>
          <p:nvPr/>
        </p:nvSpPr>
        <p:spPr>
          <a:xfrm>
            <a:off x="658368" y="4352544"/>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4498848"/>
            <a:ext cx="512064" cy="292608"/>
          </a:xfrm>
          <a:prstGeom prst="roundRect">
            <a:avLst/>
          </a:prstGeom>
          <a:solidFill>
            <a:srgbClr val="22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4562856"/>
            <a:ext cx="274320" cy="91440"/>
          </a:xfrm>
          <a:prstGeom prst="rect">
            <a:avLst/>
          </a:prstGeom>
          <a:noFill/>
        </p:spPr>
        <p:txBody>
          <a:bodyPr wrap="square">
            <a:normAutofit/>
          </a:bodyPr>
          <a:lstStyle/>
          <a:p>
            <a:pPr algn="ctr"/>
            <a:r>
              <a:rPr sz="750" b="1">
                <a:solidFill>
                  <a:srgbClr val="FFFFFF"/>
                </a:solidFill>
                <a:latin typeface="Segoe UI"/>
              </a:rPr>
              <a:t>Q3</a:t>
            </a:r>
          </a:p>
        </p:txBody>
      </p:sp>
      <p:sp>
        <p:nvSpPr>
          <p:cNvPr id="21" name="TextBox 20"/>
          <p:cNvSpPr txBox="1"/>
          <p:nvPr/>
        </p:nvSpPr>
        <p:spPr>
          <a:xfrm>
            <a:off x="1572768" y="4471416"/>
            <a:ext cx="9802368" cy="256032"/>
          </a:xfrm>
          <a:prstGeom prst="rect">
            <a:avLst/>
          </a:prstGeom>
          <a:noFill/>
        </p:spPr>
        <p:txBody>
          <a:bodyPr wrap="square">
            <a:normAutofit/>
          </a:bodyPr>
          <a:lstStyle/>
          <a:p>
            <a:r>
              <a:rPr sz="1080" b="1">
                <a:solidFill>
                  <a:srgbClr val="142640"/>
                </a:solidFill>
                <a:latin typeface="Segoe UI"/>
              </a:rPr>
              <a:t>Que evidencia minima confirma que la ingesta funciono?</a:t>
            </a:r>
          </a:p>
        </p:txBody>
      </p:sp>
      <p:sp>
        <p:nvSpPr>
          <p:cNvPr id="22" name="TextBox 21"/>
          <p:cNvSpPr txBox="1"/>
          <p:nvPr/>
        </p:nvSpPr>
        <p:spPr>
          <a:xfrm>
            <a:off x="1572768" y="4828031"/>
            <a:ext cx="9802368" cy="201168"/>
          </a:xfrm>
          <a:prstGeom prst="rect">
            <a:avLst/>
          </a:prstGeom>
          <a:noFill/>
        </p:spPr>
        <p:txBody>
          <a:bodyPr wrap="square">
            <a:normAutofit/>
          </a:bodyPr>
          <a:lstStyle/>
          <a:p>
            <a:r>
              <a:rPr sz="969" b="1">
                <a:solidFill>
                  <a:srgbClr val="232B38"/>
                </a:solidFill>
                <a:latin typeface="Segoe UI"/>
              </a:rPr>
              <a:t>Respuesta: Conteo de filas, numero de columnas y vista previa de la tabla Delta.</a:t>
            </a:r>
          </a:p>
        </p:txBody>
      </p:sp>
      <p:sp>
        <p:nvSpPr>
          <p:cNvPr id="23" name="TextBox 22"/>
          <p:cNvSpPr txBox="1"/>
          <p:nvPr/>
        </p:nvSpPr>
        <p:spPr>
          <a:xfrm>
            <a:off x="1572768" y="5102352"/>
            <a:ext cx="9802368" cy="219456"/>
          </a:xfrm>
          <a:prstGeom prst="rect">
            <a:avLst/>
          </a:prstGeom>
          <a:noFill/>
        </p:spPr>
        <p:txBody>
          <a:bodyPr wrap="square">
            <a:normAutofit/>
          </a:bodyPr>
          <a:lstStyle/>
          <a:p>
            <a:r>
              <a:rPr sz="919" b="0">
                <a:solidFill>
                  <a:srgbClr val="55606E"/>
                </a:solidFill>
                <a:latin typeface="Segoe UI"/>
              </a:rPr>
              <a:t>Clave DP-600: Las soluciones analiticas deben validarse desde el primer paso.</a:t>
            </a:r>
          </a:p>
        </p:txBody>
      </p:sp>
      <p:sp>
        <p:nvSpPr>
          <p:cNvPr id="24" name="TextBox 23"/>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25" name="Rectangle 24"/>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27" name="TextBox 26"/>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15-30 MIN | BRONZE</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Notebook Bronze - codigo 1/4</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CSV en Files/landing a tabla Delta unica.</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001  # Data Days DP-600 - Notebook en una sola celda
002  # Objetivo: leer el CSV subido manualmente al Lakehouse y crear una tabla Delta unica.
003  
004  from pyspark.sql.functions import col, trim, to_date
005  
006  source_path = "Files/landing/ventas360_sabana_unica.csv"
007  target_table = "ventas360_delta_unica"
008  
009  df_raw = (
010      spark.read
011      .format("csv")
012      .option("header", "true")
013      .option("sep", ",")
014      .option("encoding", "UTF-8")
015      .option("inferSchema", "true")
016      .load(source_path)
017  )
018  
019  df_delta = (
020      df_raw</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15-30 MIN | BRONZE</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Notebook Bronze - codigo 2/4</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CSV en Files/landing a tabla Delta unica.</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021      .withColumn("VentaID", trim(col("VentaID")))
022      .withColumn("FechaVenta", to_date(col("FechaVenta"), "yyyy-MM-dd"))
023      .withColumn("ClienteID", trim(col("ClienteID")))
024      .withColumn("ClienteNombre", trim(col("ClienteNombre")))
025      .withColumn("SegmentoCliente", trim(col("SegmentoCliente")))
026      .withColumn("IndustriaCliente", trim(col("IndustriaCliente")))
027      .withColumn("ProductoID", trim(col("ProductoID")))
028      .withColumn("ProductoNombre", trim(col("ProductoNombre")))
029      .withColumn("CategoriaProducto", trim(col("CategoriaProducto")))
030      .withColumn("MarcaProducto", trim(col("MarcaProducto")))
031      .withColumn("RegionID", trim(col("RegionID")))
032      .withColumn("RegionNombre", trim(col("RegionNombre")))
033      .withColumn("Pais", trim(col("Pais")))
034      .withColumn("ResponsableRegionEmail", trim(col("ResponsableRegionEmail")))
035      .withColumn("VendedorID", trim(col("VendedorID")))
036      .withColumn("VendedorNombre", trim(col("VendedorNombre")))
037      .withColumn("CanalVenta", trim(col("CanalVenta")))
038      .withColumn("EstadoPedido", trim(col("EstadoPedido")))
039      .withColumn("MetodoPago", trim(col("MetodoPago")))
040      .withColumn("Cantidad", col("Cantidad").cast("int"))</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15-30 MIN | BRONZE</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Notebook Bronze - codigo 3/4</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CSV en Files/landing a tabla Delta unica.</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041      .withColumn("PrecioUnitario", col("PrecioUnitario").cast("decimal(18,2)"))
042      .withColumn("CostoUnitario", col("CostoUnitario").cast("decimal(18,2)"))
043      .withColumn("DescuentoPct", col("DescuentoPct").cast("decimal(10,4)"))
044      .withColumn("ImporteBruto", col("ImporteBruto").cast("decimal(18,2)"))
045      .withColumn("ImporteDescuento", col("ImporteDescuento").cast("decimal(18,2)"))
046      .withColumn("ImporteNeto", col("ImporteNeto").cast("decimal(18,2)"))
047      .withColumn("CostoTotal", col("CostoTotal").cast("decimal(18,2)"))
048      .withColumn("Margen", col("Margen").cast("decimal(18,2)"))
049      .withColumn("FechaCarga", to_date(col("FechaCarga"), "yyyy-MM-dd"))
050  )
051  
052  (
053      df_delta.write
054      .mode("overwrite")
055      .format("delta")
056      .option("overwriteSchema", "true")
057      .saveAsTable(target_table)
058  )
059  
060  df_check = spark.read.table(target_table)</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15-30 MIN | BRONZE</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Notebook Bronze - codigo 4/4</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CSV en Files/landing a tabla Delta unica.</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061  
062  print(f"Tabla Delta creada: {target_table}")
063  print(f"Filas cargadas: {df_check.count()}")
064  print(f"Columnas: {len(df_check.columns)}")
065  
066  display(df_check.limit(10))
067  display(df_check.groupBy("RegionNombre").count())
068  display(df_check.groupBy("EstadoPedido").count())
069  display(
070      df_check
071      .groupBy("VentaID")
072      .count()
073      .where(col("count") &gt; 1)
074  )</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30-50 MIN | SILVER</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Pasos Silver</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Silver no crea dimensiones: solo deja una tabla limpia y confiable.</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883664"/>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332720" cy="347472"/>
          </a:xfrm>
          <a:prstGeom prst="rect">
            <a:avLst/>
          </a:prstGeom>
          <a:noFill/>
        </p:spPr>
        <p:txBody>
          <a:bodyPr wrap="square">
            <a:normAutofit/>
          </a:bodyPr>
          <a:lstStyle/>
          <a:p>
            <a:r>
              <a:rPr sz="1500" b="0">
                <a:solidFill>
                  <a:srgbClr val="232B38"/>
                </a:solidFill>
                <a:latin typeface="Segoe UI"/>
              </a:rPr>
              <a:t>Leer la Delta de Bronze desde la ruta ABFSS en LK_bronce.</a:t>
            </a:r>
          </a:p>
        </p:txBody>
      </p:sp>
      <p:sp>
        <p:nvSpPr>
          <p:cNvPr id="8" name="Oval 7"/>
          <p:cNvSpPr/>
          <p:nvPr/>
        </p:nvSpPr>
        <p:spPr>
          <a:xfrm>
            <a:off x="758952" y="2450592"/>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95728"/>
            <a:ext cx="10332720" cy="347472"/>
          </a:xfrm>
          <a:prstGeom prst="rect">
            <a:avLst/>
          </a:prstGeom>
          <a:noFill/>
        </p:spPr>
        <p:txBody>
          <a:bodyPr wrap="square">
            <a:normAutofit/>
          </a:bodyPr>
          <a:lstStyle/>
          <a:p>
            <a:r>
              <a:rPr sz="1500" b="0">
                <a:solidFill>
                  <a:srgbClr val="232B38"/>
                </a:solidFill>
                <a:latin typeface="Segoe UI"/>
              </a:rPr>
              <a:t>Limpiar textos, normalizar mayusculas/minusculas y tipar columnas.</a:t>
            </a:r>
          </a:p>
        </p:txBody>
      </p:sp>
      <p:sp>
        <p:nvSpPr>
          <p:cNvPr id="10" name="Oval 9"/>
          <p:cNvSpPr/>
          <p:nvPr/>
        </p:nvSpPr>
        <p:spPr>
          <a:xfrm>
            <a:off x="758952" y="3017520"/>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62656"/>
            <a:ext cx="10332720" cy="347472"/>
          </a:xfrm>
          <a:prstGeom prst="rect">
            <a:avLst/>
          </a:prstGeom>
          <a:noFill/>
        </p:spPr>
        <p:txBody>
          <a:bodyPr wrap="square">
            <a:normAutofit/>
          </a:bodyPr>
          <a:lstStyle/>
          <a:p>
            <a:r>
              <a:rPr sz="1500" b="0">
                <a:solidFill>
                  <a:srgbClr val="232B38"/>
                </a:solidFill>
                <a:latin typeface="Segoe UI"/>
              </a:rPr>
              <a:t>Corregir valores de negocio: RegionNombre, SegmentoCliente y emails.</a:t>
            </a:r>
          </a:p>
        </p:txBody>
      </p:sp>
      <p:sp>
        <p:nvSpPr>
          <p:cNvPr id="12" name="Oval 11"/>
          <p:cNvSpPr/>
          <p:nvPr/>
        </p:nvSpPr>
        <p:spPr>
          <a:xfrm>
            <a:off x="758952" y="3584448"/>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29584"/>
            <a:ext cx="10332720" cy="347472"/>
          </a:xfrm>
          <a:prstGeom prst="rect">
            <a:avLst/>
          </a:prstGeom>
          <a:noFill/>
        </p:spPr>
        <p:txBody>
          <a:bodyPr wrap="square">
            <a:normAutofit/>
          </a:bodyPr>
          <a:lstStyle/>
          <a:p>
            <a:r>
              <a:rPr sz="1500" b="0">
                <a:solidFill>
                  <a:srgbClr val="232B38"/>
                </a:solidFill>
                <a:latin typeface="Segoe UI"/>
              </a:rPr>
              <a:t>Crear hash de negocio y marcar posibles duplicados.</a:t>
            </a:r>
          </a:p>
        </p:txBody>
      </p:sp>
      <p:sp>
        <p:nvSpPr>
          <p:cNvPr id="14" name="Oval 13"/>
          <p:cNvSpPr/>
          <p:nvPr/>
        </p:nvSpPr>
        <p:spPr>
          <a:xfrm>
            <a:off x="758952" y="4151376"/>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096512"/>
            <a:ext cx="10332720" cy="347472"/>
          </a:xfrm>
          <a:prstGeom prst="rect">
            <a:avLst/>
          </a:prstGeom>
          <a:noFill/>
        </p:spPr>
        <p:txBody>
          <a:bodyPr wrap="square">
            <a:normAutofit/>
          </a:bodyPr>
          <a:lstStyle/>
          <a:p>
            <a:r>
              <a:rPr sz="1500" b="0">
                <a:solidFill>
                  <a:srgbClr val="232B38"/>
                </a:solidFill>
                <a:latin typeface="Segoe UI"/>
              </a:rPr>
              <a:t>Guardar dbo.silver_ventas360_limpia en LK_plata.</a:t>
            </a:r>
          </a:p>
        </p:txBody>
      </p:sp>
      <p:sp>
        <p:nvSpPr>
          <p:cNvPr id="16" name="TextBox 15"/>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17" name="Rectangle 16"/>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9" name="TextBox 18"/>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30-50 MIN | SILVER</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Silver y DP-600</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Esta fase entrena preparacion y calidad de datos antes del consumo.</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883664"/>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332720" cy="347472"/>
          </a:xfrm>
          <a:prstGeom prst="rect">
            <a:avLst/>
          </a:prstGeom>
          <a:noFill/>
        </p:spPr>
        <p:txBody>
          <a:bodyPr wrap="square">
            <a:normAutofit/>
          </a:bodyPr>
          <a:lstStyle/>
          <a:p>
            <a:r>
              <a:rPr sz="1500" b="0">
                <a:solidFill>
                  <a:srgbClr val="232B38"/>
                </a:solidFill>
                <a:latin typeface="Segoe UI"/>
              </a:rPr>
              <a:t>Practica Transform data: convertir tipos, limpiar textos y normalizar categorias.</a:t>
            </a:r>
          </a:p>
        </p:txBody>
      </p:sp>
      <p:sp>
        <p:nvSpPr>
          <p:cNvPr id="8" name="Oval 7"/>
          <p:cNvSpPr/>
          <p:nvPr/>
        </p:nvSpPr>
        <p:spPr>
          <a:xfrm>
            <a:off x="758952" y="2450592"/>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95728"/>
            <a:ext cx="10332720" cy="347472"/>
          </a:xfrm>
          <a:prstGeom prst="rect">
            <a:avLst/>
          </a:prstGeom>
          <a:noFill/>
        </p:spPr>
        <p:txBody>
          <a:bodyPr wrap="square">
            <a:normAutofit/>
          </a:bodyPr>
          <a:lstStyle/>
          <a:p>
            <a:r>
              <a:rPr sz="1500" b="0">
                <a:solidFill>
                  <a:srgbClr val="232B38"/>
                </a:solidFill>
                <a:latin typeface="Segoe UI"/>
              </a:rPr>
              <a:t>Trabaja calidad: resolver nulos, detectar duplicados y crear columnas de control.</a:t>
            </a:r>
          </a:p>
        </p:txBody>
      </p:sp>
      <p:sp>
        <p:nvSpPr>
          <p:cNvPr id="10" name="Oval 9"/>
          <p:cNvSpPr/>
          <p:nvPr/>
        </p:nvSpPr>
        <p:spPr>
          <a:xfrm>
            <a:off x="758952" y="3017520"/>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62656"/>
            <a:ext cx="10332720" cy="347472"/>
          </a:xfrm>
          <a:prstGeom prst="rect">
            <a:avLst/>
          </a:prstGeom>
          <a:noFill/>
        </p:spPr>
        <p:txBody>
          <a:bodyPr wrap="square">
            <a:normAutofit/>
          </a:bodyPr>
          <a:lstStyle/>
          <a:p>
            <a:r>
              <a:rPr sz="1500" b="0">
                <a:solidFill>
                  <a:srgbClr val="232B38"/>
                </a:solidFill>
                <a:latin typeface="Segoe UI"/>
              </a:rPr>
              <a:t>Refuerza que Silver no es la capa del modelo estrella final; es la capa confiable.</a:t>
            </a:r>
          </a:p>
        </p:txBody>
      </p:sp>
      <p:sp>
        <p:nvSpPr>
          <p:cNvPr id="12" name="Oval 11"/>
          <p:cNvSpPr/>
          <p:nvPr/>
        </p:nvSpPr>
        <p:spPr>
          <a:xfrm>
            <a:off x="758952" y="3584448"/>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29584"/>
            <a:ext cx="10332720" cy="347472"/>
          </a:xfrm>
          <a:prstGeom prst="rect">
            <a:avLst/>
          </a:prstGeom>
          <a:noFill/>
        </p:spPr>
        <p:txBody>
          <a:bodyPr wrap="square">
            <a:normAutofit/>
          </a:bodyPr>
          <a:lstStyle/>
          <a:p>
            <a:r>
              <a:rPr sz="1500" b="0">
                <a:solidFill>
                  <a:srgbClr val="232B38"/>
                </a:solidFill>
                <a:latin typeface="Segoe UI"/>
              </a:rPr>
              <a:t>Permite explicar por que un error en Silver se propaga al Warehouse, modelo semantico y reporte.</a:t>
            </a:r>
          </a:p>
        </p:txBody>
      </p:sp>
      <p:sp>
        <p:nvSpPr>
          <p:cNvPr id="14" name="Oval 13"/>
          <p:cNvSpPr/>
          <p:nvPr/>
        </p:nvSpPr>
        <p:spPr>
          <a:xfrm>
            <a:off x="758952" y="4151376"/>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096512"/>
            <a:ext cx="10332720" cy="347472"/>
          </a:xfrm>
          <a:prstGeom prst="rect">
            <a:avLst/>
          </a:prstGeom>
          <a:noFill/>
        </p:spPr>
        <p:txBody>
          <a:bodyPr wrap="square">
            <a:normAutofit/>
          </a:bodyPr>
          <a:lstStyle/>
          <a:p>
            <a:r>
              <a:rPr sz="1500" b="0">
                <a:solidFill>
                  <a:srgbClr val="232B38"/>
                </a:solidFill>
                <a:latin typeface="Segoe UI"/>
              </a:rPr>
              <a:t>Conecta con escenarios DP-600 de limpieza, enriquecimiento, filtros, deduplicacion y validacion.</a:t>
            </a:r>
          </a:p>
        </p:txBody>
      </p:sp>
      <p:sp>
        <p:nvSpPr>
          <p:cNvPr id="16" name="TextBox 15"/>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17" name="Rectangle 16"/>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9" name="TextBox 18"/>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30-50 MIN | SILVER</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Preguntas tipo DP-600 - Silver</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Limpieza, tipado, normalizacion y calidad.</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37360"/>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83664"/>
            <a:ext cx="512064" cy="292608"/>
          </a:xfrm>
          <a:prstGeom prst="round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947672"/>
            <a:ext cx="274320" cy="91440"/>
          </a:xfrm>
          <a:prstGeom prst="rect">
            <a:avLst/>
          </a:prstGeom>
          <a:noFill/>
        </p:spPr>
        <p:txBody>
          <a:bodyPr wrap="square">
            <a:normAutofit/>
          </a:bodyPr>
          <a:lstStyle/>
          <a:p>
            <a:pPr algn="ctr"/>
            <a:r>
              <a:rPr sz="750" b="1">
                <a:solidFill>
                  <a:srgbClr val="FFFFFF"/>
                </a:solidFill>
                <a:latin typeface="Segoe UI"/>
              </a:rPr>
              <a:t>Q1</a:t>
            </a:r>
          </a:p>
        </p:txBody>
      </p:sp>
      <p:sp>
        <p:nvSpPr>
          <p:cNvPr id="9" name="TextBox 8"/>
          <p:cNvSpPr txBox="1"/>
          <p:nvPr/>
        </p:nvSpPr>
        <p:spPr>
          <a:xfrm>
            <a:off x="1572768" y="1856231"/>
            <a:ext cx="9802368" cy="256032"/>
          </a:xfrm>
          <a:prstGeom prst="rect">
            <a:avLst/>
          </a:prstGeom>
          <a:noFill/>
        </p:spPr>
        <p:txBody>
          <a:bodyPr wrap="square">
            <a:normAutofit/>
          </a:bodyPr>
          <a:lstStyle/>
          <a:p>
            <a:r>
              <a:rPr sz="1080" b="1">
                <a:solidFill>
                  <a:srgbClr val="142640"/>
                </a:solidFill>
                <a:latin typeface="Segoe UI"/>
              </a:rPr>
              <a:t>SegmentoCliente llega vacio y RegionNombre llega como LATAM/latam. En que capa lo corriges?</a:t>
            </a:r>
          </a:p>
        </p:txBody>
      </p:sp>
      <p:sp>
        <p:nvSpPr>
          <p:cNvPr id="10" name="TextBox 9"/>
          <p:cNvSpPr txBox="1"/>
          <p:nvPr/>
        </p:nvSpPr>
        <p:spPr>
          <a:xfrm>
            <a:off x="1572768" y="2212848"/>
            <a:ext cx="9802368" cy="201168"/>
          </a:xfrm>
          <a:prstGeom prst="rect">
            <a:avLst/>
          </a:prstGeom>
          <a:noFill/>
        </p:spPr>
        <p:txBody>
          <a:bodyPr wrap="square">
            <a:normAutofit/>
          </a:bodyPr>
          <a:lstStyle/>
          <a:p>
            <a:r>
              <a:rPr sz="969" b="1">
                <a:solidFill>
                  <a:srgbClr val="232B38"/>
                </a:solidFill>
                <a:latin typeface="Segoe UI"/>
              </a:rPr>
              <a:t>Respuesta: En Silver.</a:t>
            </a:r>
          </a:p>
        </p:txBody>
      </p:sp>
      <p:sp>
        <p:nvSpPr>
          <p:cNvPr id="11" name="TextBox 10"/>
          <p:cNvSpPr txBox="1"/>
          <p:nvPr/>
        </p:nvSpPr>
        <p:spPr>
          <a:xfrm>
            <a:off x="1572768" y="2487168"/>
            <a:ext cx="9802368" cy="219456"/>
          </a:xfrm>
          <a:prstGeom prst="rect">
            <a:avLst/>
          </a:prstGeom>
          <a:noFill/>
        </p:spPr>
        <p:txBody>
          <a:bodyPr wrap="square">
            <a:normAutofit/>
          </a:bodyPr>
          <a:lstStyle/>
          <a:p>
            <a:r>
              <a:rPr sz="919" b="0">
                <a:solidFill>
                  <a:srgbClr val="55606E"/>
                </a:solidFill>
                <a:latin typeface="Segoe UI"/>
              </a:rPr>
              <a:t>Clave DP-600: Transform data cubre nulos, valores inconsistentes, conversiones y reglas de calidad.</a:t>
            </a:r>
          </a:p>
        </p:txBody>
      </p:sp>
      <p:sp>
        <p:nvSpPr>
          <p:cNvPr id="12" name="Rounded Rectangle 11"/>
          <p:cNvSpPr/>
          <p:nvPr/>
        </p:nvSpPr>
        <p:spPr>
          <a:xfrm>
            <a:off x="658368" y="3044952"/>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3191256"/>
            <a:ext cx="512064" cy="292608"/>
          </a:xfrm>
          <a:prstGeom prst="roundRect">
            <a:avLst/>
          </a:prstGeom>
          <a:solidFill>
            <a:srgbClr val="346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3255264"/>
            <a:ext cx="274320" cy="91440"/>
          </a:xfrm>
          <a:prstGeom prst="rect">
            <a:avLst/>
          </a:prstGeom>
          <a:noFill/>
        </p:spPr>
        <p:txBody>
          <a:bodyPr wrap="square">
            <a:normAutofit/>
          </a:bodyPr>
          <a:lstStyle/>
          <a:p>
            <a:pPr algn="ctr"/>
            <a:r>
              <a:rPr sz="750" b="1">
                <a:solidFill>
                  <a:srgbClr val="FFFFFF"/>
                </a:solidFill>
                <a:latin typeface="Segoe UI"/>
              </a:rPr>
              <a:t>Q2</a:t>
            </a:r>
          </a:p>
        </p:txBody>
      </p:sp>
      <p:sp>
        <p:nvSpPr>
          <p:cNvPr id="15" name="TextBox 14"/>
          <p:cNvSpPr txBox="1"/>
          <p:nvPr/>
        </p:nvSpPr>
        <p:spPr>
          <a:xfrm>
            <a:off x="1572768" y="3163824"/>
            <a:ext cx="9802368" cy="256032"/>
          </a:xfrm>
          <a:prstGeom prst="rect">
            <a:avLst/>
          </a:prstGeom>
          <a:noFill/>
        </p:spPr>
        <p:txBody>
          <a:bodyPr wrap="square">
            <a:normAutofit/>
          </a:bodyPr>
          <a:lstStyle/>
          <a:p>
            <a:r>
              <a:rPr sz="1080" b="1">
                <a:solidFill>
                  <a:srgbClr val="142640"/>
                </a:solidFill>
                <a:latin typeface="Segoe UI"/>
              </a:rPr>
              <a:t>Debemos crear DimCliente y FactVentas en Silver?</a:t>
            </a:r>
          </a:p>
        </p:txBody>
      </p:sp>
      <p:sp>
        <p:nvSpPr>
          <p:cNvPr id="16" name="TextBox 15"/>
          <p:cNvSpPr txBox="1"/>
          <p:nvPr/>
        </p:nvSpPr>
        <p:spPr>
          <a:xfrm>
            <a:off x="1572768" y="3520440"/>
            <a:ext cx="9802368" cy="201168"/>
          </a:xfrm>
          <a:prstGeom prst="rect">
            <a:avLst/>
          </a:prstGeom>
          <a:noFill/>
        </p:spPr>
        <p:txBody>
          <a:bodyPr wrap="square">
            <a:normAutofit/>
          </a:bodyPr>
          <a:lstStyle/>
          <a:p>
            <a:r>
              <a:rPr sz="969" b="1">
                <a:solidFill>
                  <a:srgbClr val="232B38"/>
                </a:solidFill>
                <a:latin typeface="Segoe UI"/>
              </a:rPr>
              <a:t>Respuesta: No. En Silver dejamos datos limpios; el modelo estrella final va en Gold.</a:t>
            </a:r>
          </a:p>
        </p:txBody>
      </p:sp>
      <p:sp>
        <p:nvSpPr>
          <p:cNvPr id="17" name="TextBox 16"/>
          <p:cNvSpPr txBox="1"/>
          <p:nvPr/>
        </p:nvSpPr>
        <p:spPr>
          <a:xfrm>
            <a:off x="1572768" y="3794760"/>
            <a:ext cx="9802368" cy="219456"/>
          </a:xfrm>
          <a:prstGeom prst="rect">
            <a:avLst/>
          </a:prstGeom>
          <a:noFill/>
        </p:spPr>
        <p:txBody>
          <a:bodyPr wrap="square">
            <a:normAutofit/>
          </a:bodyPr>
          <a:lstStyle/>
          <a:p>
            <a:r>
              <a:rPr sz="919" b="0">
                <a:solidFill>
                  <a:srgbClr val="55606E"/>
                </a:solidFill>
                <a:latin typeface="Segoe UI"/>
              </a:rPr>
              <a:t>Clave DP-600: La separacion medallion ayuda a distinguir preparacion de datos y modelado analitico.</a:t>
            </a:r>
          </a:p>
        </p:txBody>
      </p:sp>
      <p:sp>
        <p:nvSpPr>
          <p:cNvPr id="18" name="Rounded Rectangle 17"/>
          <p:cNvSpPr/>
          <p:nvPr/>
        </p:nvSpPr>
        <p:spPr>
          <a:xfrm>
            <a:off x="658368" y="4352544"/>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4498848"/>
            <a:ext cx="512064" cy="292608"/>
          </a:xfrm>
          <a:prstGeom prst="roundRect">
            <a:avLst/>
          </a:prstGeom>
          <a:solidFill>
            <a:srgbClr val="22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4562856"/>
            <a:ext cx="274320" cy="91440"/>
          </a:xfrm>
          <a:prstGeom prst="rect">
            <a:avLst/>
          </a:prstGeom>
          <a:noFill/>
        </p:spPr>
        <p:txBody>
          <a:bodyPr wrap="square">
            <a:normAutofit/>
          </a:bodyPr>
          <a:lstStyle/>
          <a:p>
            <a:pPr algn="ctr"/>
            <a:r>
              <a:rPr sz="750" b="1">
                <a:solidFill>
                  <a:srgbClr val="FFFFFF"/>
                </a:solidFill>
                <a:latin typeface="Segoe UI"/>
              </a:rPr>
              <a:t>Q3</a:t>
            </a:r>
          </a:p>
        </p:txBody>
      </p:sp>
      <p:sp>
        <p:nvSpPr>
          <p:cNvPr id="21" name="TextBox 20"/>
          <p:cNvSpPr txBox="1"/>
          <p:nvPr/>
        </p:nvSpPr>
        <p:spPr>
          <a:xfrm>
            <a:off x="1572768" y="4471416"/>
            <a:ext cx="9802368" cy="256032"/>
          </a:xfrm>
          <a:prstGeom prst="rect">
            <a:avLst/>
          </a:prstGeom>
          <a:noFill/>
        </p:spPr>
        <p:txBody>
          <a:bodyPr wrap="square">
            <a:normAutofit/>
          </a:bodyPr>
          <a:lstStyle/>
          <a:p>
            <a:r>
              <a:rPr sz="1080" b="1">
                <a:solidFill>
                  <a:srgbClr val="142640"/>
                </a:solidFill>
                <a:latin typeface="Segoe UI"/>
              </a:rPr>
              <a:t>Por que marcar posibles duplicados con un hash en vez de eliminarlos sin trazabilidad?</a:t>
            </a:r>
          </a:p>
        </p:txBody>
      </p:sp>
      <p:sp>
        <p:nvSpPr>
          <p:cNvPr id="22" name="TextBox 21"/>
          <p:cNvSpPr txBox="1"/>
          <p:nvPr/>
        </p:nvSpPr>
        <p:spPr>
          <a:xfrm>
            <a:off x="1572768" y="4828031"/>
            <a:ext cx="9802368" cy="201168"/>
          </a:xfrm>
          <a:prstGeom prst="rect">
            <a:avLst/>
          </a:prstGeom>
          <a:noFill/>
        </p:spPr>
        <p:txBody>
          <a:bodyPr wrap="square">
            <a:normAutofit/>
          </a:bodyPr>
          <a:lstStyle/>
          <a:p>
            <a:r>
              <a:rPr sz="969" b="1">
                <a:solidFill>
                  <a:srgbClr val="232B38"/>
                </a:solidFill>
                <a:latin typeface="Segoe UI"/>
              </a:rPr>
              <a:t>Respuesta: Porque permite auditar la regla y evitar perder informacion sin decision de negocio.</a:t>
            </a:r>
          </a:p>
        </p:txBody>
      </p:sp>
      <p:sp>
        <p:nvSpPr>
          <p:cNvPr id="23" name="TextBox 22"/>
          <p:cNvSpPr txBox="1"/>
          <p:nvPr/>
        </p:nvSpPr>
        <p:spPr>
          <a:xfrm>
            <a:off x="1572768" y="5102352"/>
            <a:ext cx="9802368" cy="219456"/>
          </a:xfrm>
          <a:prstGeom prst="rect">
            <a:avLst/>
          </a:prstGeom>
          <a:noFill/>
        </p:spPr>
        <p:txBody>
          <a:bodyPr wrap="square">
            <a:normAutofit/>
          </a:bodyPr>
          <a:lstStyle/>
          <a:p>
            <a:r>
              <a:rPr sz="919" b="0">
                <a:solidFill>
                  <a:srgbClr val="55606E"/>
                </a:solidFill>
                <a:latin typeface="Segoe UI"/>
              </a:rPr>
              <a:t>Clave DP-600: DP-600 evalua resolver duplicados con criterio, no borrar datos a ciegas.</a:t>
            </a:r>
          </a:p>
        </p:txBody>
      </p:sp>
      <p:sp>
        <p:nvSpPr>
          <p:cNvPr id="24" name="TextBox 23"/>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25" name="Rectangle 24"/>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27" name="TextBox 26"/>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30-50 MIN | SILVER</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Notebook Silver - codigo 1/7</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Limpieza y calidad sobre la tabla Delta Bronze.</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001  # Data Days DP-600 - Notebook Silver Medallion
002  # Objetivo: tomar la tabla Delta de Bronze y crear una unica tabla Silver limpia.
003  # Las dimensiones y la fact final se crean despues en Gold/Oro.
004  
005  from pyspark.sql import Window
006  from pyspark.sql.functions import (
007      col,
008      concat_ws,
009      current_timestamp,
010      initcap,
011      lower,
012      row_number,
013      sha2,
014      to_date,
015      trim,
016      upper,
017      when,
018  )
019  
020  </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30-50 MIN | SILVER</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Notebook Silver - codigo 2/7</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Limpieza y calidad sobre la tabla Delta Bronze.</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021  # ORIGEN BRONZE
022  source_path = "abfss://Sesion_07Charlas@onelake.dfs.fabric.microsoft.com/LK_bronce.Lakehouse/Tables/dbo/ventas360_delta_unica"
023  
024  # DESTINO SILVER EN LK_PLATA
025  target_schema = "dbo"
026  silver_table = f"{target_schema}.silver_ventas360_limpia"
027  
028  spark.sql(f"CREATE SCHEMA IF NOT EXISTS {target_schema}")
029  
030  
031  # 1. Leer tabla Delta Bronze desde OneLake.
032  df = spark.read.format("delta").load(source_path)
033  
034  
035  # 2. Limpieza, tipado y normalizacion Silver.
036  df_silver = (
037      df
038      .withColumn("VentaID", trim(col("VentaID")))
039      .withColumn("FechaVenta", to_date(col("FechaVenta")))
040      .withColumn("Anio", col("Anio").cast("int"))</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30-50 MIN | SILVER</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Notebook Silver - codigo 3/7</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Limpieza y calidad sobre la tabla Delta Bronze.</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041      .withColumn("MesNumero", col("MesNumero").cast("int"))
042      .withColumn("MesNombre", initcap(trim(col("MesNombre"))))
043      .withColumn("ClienteID", upper(trim(col("ClienteID"))))
044      .withColumn("ClienteNombre", initcap(trim(col("ClienteNombre"))))
045      .withColumn(
046          "SegmentoCliente",
047          when((col("SegmentoCliente").isNull()) | (trim(col("SegmentoCliente")) == ""), "Sin clasificar")
048          .otherwise(initcap(trim(col("SegmentoCliente"))))
049      )
050      .withColumn("IndustriaCliente", initcap(trim(col("IndustriaCliente"))))
051      .withColumn("ProductoID", upper(trim(col("ProductoID"))))
052      .withColumn("ProductoNombre", trim(col("ProductoNombre")))
053      .withColumn("CategoriaProducto", initcap(trim(col("CategoriaProducto"))))
054      .withColumn("MarcaProducto", trim(col("MarcaProducto")))
055      .withColumn("RegionID", upper(trim(col("RegionID"))))
056      .withColumn(
057          "RegionNombre",
058          when(upper(trim(col("RegionNombre"))) == "LATAM", "Latam")
059          .otherwise(initcap(trim(col("RegionNombre"))))
060      )</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30-50 MIN | SILVER</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Notebook Silver - codigo 4/7</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Limpieza y calidad sobre la tabla Delta Bronze.</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061      .withColumn("Pais", initcap(trim(col("Pais"))))
062      .withColumn("ResponsableRegionEmail", lower(trim(col("ResponsableRegionEmail"))))
063      .withColumn("VendedorID", upper(trim(col("VendedorID"))))
064      .withColumn("VendedorNombre", initcap(trim(col("VendedorNombre"))))
065      .withColumn("CanalVenta", initcap(trim(col("CanalVenta"))))
066      .withColumn("EstadoPedido", initcap(trim(col("EstadoPedido"))))
067      .withColumn("MetodoPago", initcap(trim(col("MetodoPago"))))
068      .withColumn("Cantidad", col("Cantidad").cast("int"))
069      .withColumn("PrecioUnitario", col("PrecioUnitario").cast("decimal(18,2)"))
070      .withColumn("CostoUnitario", col("CostoUnitario").cast("decimal(18,2)"))
071      .withColumn("DescuentoPct", col("DescuentoPct").cast("decimal(10,4)"))
072      .withColumn("ImporteBruto", col("ImporteBruto").cast("decimal(18,2)"))
073      .withColumn("ImporteDescuento", col("ImporteDescuento").cast("decimal(18,2)"))
074      .withColumn("ImporteNeto", col("ImporteNeto").cast("decimal(18,2)"))
075      .withColumn("CostoTotal", col("CostoTotal").cast("decimal(18,2)"))
076      .withColumn("Margen", col("Margen").cast("decimal(18,2)"))
077      .withColumn("FechaCarga", to_date(col("FechaCarga")))
078      .withColumn("FechaProcesoSilver", current_timestamp())
079  )
080  </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30-50 MIN | SILVER</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Notebook Silver - codigo 5/7</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Limpieza y calidad sobre la tabla Delta Bronze.</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081  
082  # 3. Detectar posibles duplicados de negocio sin eliminarlos.
083  business_key_cols = [
084      "FechaVenta",
085      "ClienteID",
086      "ProductoID",
087      "RegionID",
088      "VendedorID",
089      "CanalVenta",
090      "EstadoPedido",
091      "Cantidad",
092      "ImporteNeto",
093      "Margen",
094  ]
095  
096  df_silver = df_silver.withColumn(
097      "HashVentaNegocio",
098      sha2(concat_ws("||", *[col(c).cast("string") for c in business_key_cols]), 256)
099  )
100  </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30-50 MIN | SILVER</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Notebook Silver - codigo 6/7</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Limpieza y calidad sobre la tabla Delta Bronze.</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101  w_dup = Window.partitionBy("HashVentaNegocio").orderBy(col("VentaID"))
102  
103  df_silver = (
104      df_silver
105      .withColumn("NumeroDuplicadoNegocio", row_number().over(w_dup))
106      .withColumn("EsDuplicadoNegocio", col("NumeroDuplicadoNegocio") &gt; 1)
107  )
108  
109  
110  # 4. Guardar tabla Silver limpia.
111  (
112      df_silver.write
113      .mode("overwrite")
114      .format("delta")
115      .option("overwriteSchema", "true")
116      .saveAsTable(silver_table)
117  )
118  
119  
120  # 5. Validaciones.</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30-50 MIN | SILVER</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Notebook Silver - codigo 7/7</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Limpieza y calidad sobre la tabla Delta Bronze.</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121  df_check = spark.read.table(silver_table)
122  
123  print(f"Tabla Silver creada: {silver_table}")
124  print(f"Filas cargadas: {df_check.count()}")
125  print(f"Columnas cargadas: {len(df_check.columns)}")
126  
127  display(df_check.limit(10))
128  
129  print("Conteo por region:")
130  display(df_check.groupBy("RegionNombre").count())
131  
132  print("Conteo por estado:")
133  display(df_check.groupBy("EstadoPedido").count())
134  
135  print("Posibles duplicados de negocio:")
136  display(
137      df_check
138      .where(col("EsDuplicadoNegocio") == True)
139      .select("VentaID", "FechaVenta", "ClienteID", "ProductoID", "RegionID", "ImporteNeto", "Margen")
140  )</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50-70 MIN | GOLD</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Pasos Gold en Warehouse</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Gold crea el modelo dimensional para consumo analitico.</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883664"/>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332720" cy="347472"/>
          </a:xfrm>
          <a:prstGeom prst="rect">
            <a:avLst/>
          </a:prstGeom>
          <a:noFill/>
        </p:spPr>
        <p:txBody>
          <a:bodyPr wrap="square">
            <a:normAutofit/>
          </a:bodyPr>
          <a:lstStyle/>
          <a:p>
            <a:r>
              <a:rPr sz="1500" b="0">
                <a:solidFill>
                  <a:srgbClr val="232B38"/>
                </a:solidFill>
                <a:latin typeface="Segoe UI"/>
              </a:rPr>
              <a:t>Abrir el Warehouse final.</a:t>
            </a:r>
          </a:p>
        </p:txBody>
      </p:sp>
      <p:sp>
        <p:nvSpPr>
          <p:cNvPr id="8" name="Oval 7"/>
          <p:cNvSpPr/>
          <p:nvPr/>
        </p:nvSpPr>
        <p:spPr>
          <a:xfrm>
            <a:off x="758952" y="2450592"/>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95728"/>
            <a:ext cx="10332720" cy="347472"/>
          </a:xfrm>
          <a:prstGeom prst="rect">
            <a:avLst/>
          </a:prstGeom>
          <a:noFill/>
        </p:spPr>
        <p:txBody>
          <a:bodyPr wrap="square">
            <a:normAutofit/>
          </a:bodyPr>
          <a:lstStyle/>
          <a:p>
            <a:r>
              <a:rPr sz="1500" b="0">
                <a:solidFill>
                  <a:srgbClr val="232B38"/>
                </a:solidFill>
                <a:latin typeface="Segoe UI"/>
              </a:rPr>
              <a:t>Ejecutar el SQL contra [LK_plata].[dbo].[silver_ventas360_limpia].</a:t>
            </a:r>
          </a:p>
        </p:txBody>
      </p:sp>
      <p:sp>
        <p:nvSpPr>
          <p:cNvPr id="10" name="Oval 9"/>
          <p:cNvSpPr/>
          <p:nvPr/>
        </p:nvSpPr>
        <p:spPr>
          <a:xfrm>
            <a:off x="758952" y="3017520"/>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62656"/>
            <a:ext cx="10332720" cy="347472"/>
          </a:xfrm>
          <a:prstGeom prst="rect">
            <a:avLst/>
          </a:prstGeom>
          <a:noFill/>
        </p:spPr>
        <p:txBody>
          <a:bodyPr wrap="square">
            <a:normAutofit/>
          </a:bodyPr>
          <a:lstStyle/>
          <a:p>
            <a:r>
              <a:rPr sz="1500" b="0">
                <a:solidFill>
                  <a:srgbClr val="232B38"/>
                </a:solidFill>
                <a:latin typeface="Segoe UI"/>
              </a:rPr>
              <a:t>Crear gold_dim_fecha, gold_dim_cliente, gold_dim_producto, gold_dim_region y gold_dim_vendedor.</a:t>
            </a:r>
          </a:p>
        </p:txBody>
      </p:sp>
      <p:sp>
        <p:nvSpPr>
          <p:cNvPr id="12" name="Oval 11"/>
          <p:cNvSpPr/>
          <p:nvPr/>
        </p:nvSpPr>
        <p:spPr>
          <a:xfrm>
            <a:off x="758952" y="3584448"/>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29584"/>
            <a:ext cx="10332720" cy="347472"/>
          </a:xfrm>
          <a:prstGeom prst="rect">
            <a:avLst/>
          </a:prstGeom>
          <a:noFill/>
        </p:spPr>
        <p:txBody>
          <a:bodyPr wrap="square">
            <a:normAutofit/>
          </a:bodyPr>
          <a:lstStyle/>
          <a:p>
            <a:r>
              <a:rPr sz="1500" b="0">
                <a:solidFill>
                  <a:srgbClr val="232B38"/>
                </a:solidFill>
                <a:latin typeface="Segoe UI"/>
              </a:rPr>
              <a:t>Crear gold_fact_ventas excluyendo EsDuplicadoNegocio = 1.</a:t>
            </a:r>
          </a:p>
        </p:txBody>
      </p:sp>
      <p:sp>
        <p:nvSpPr>
          <p:cNvPr id="14" name="Oval 13"/>
          <p:cNvSpPr/>
          <p:nvPr/>
        </p:nvSpPr>
        <p:spPr>
          <a:xfrm>
            <a:off x="758952" y="4151376"/>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096512"/>
            <a:ext cx="10332720" cy="347472"/>
          </a:xfrm>
          <a:prstGeom prst="rect">
            <a:avLst/>
          </a:prstGeom>
          <a:noFill/>
        </p:spPr>
        <p:txBody>
          <a:bodyPr wrap="square">
            <a:normAutofit/>
          </a:bodyPr>
          <a:lstStyle/>
          <a:p>
            <a:r>
              <a:rPr sz="1500" b="0">
                <a:solidFill>
                  <a:srgbClr val="232B38"/>
                </a:solidFill>
                <a:latin typeface="Segoe UI"/>
              </a:rPr>
              <a:t>Validar conteos, ventas totales, margen total y ventas por region.</a:t>
            </a:r>
          </a:p>
        </p:txBody>
      </p:sp>
      <p:sp>
        <p:nvSpPr>
          <p:cNvPr id="16" name="TextBox 15"/>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17" name="Rectangle 16"/>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9" name="TextBox 18"/>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50-70 MIN | GOLD</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Gold y DP-600</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Esta fase entrena el paso de datos limpios a un modelo analitico empresarial.</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883664"/>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332720" cy="347472"/>
          </a:xfrm>
          <a:prstGeom prst="rect">
            <a:avLst/>
          </a:prstGeom>
          <a:noFill/>
        </p:spPr>
        <p:txBody>
          <a:bodyPr wrap="square">
            <a:normAutofit/>
          </a:bodyPr>
          <a:lstStyle/>
          <a:p>
            <a:r>
              <a:rPr sz="1500" b="0">
                <a:solidFill>
                  <a:srgbClr val="232B38"/>
                </a:solidFill>
                <a:latin typeface="Segoe UI"/>
              </a:rPr>
              <a:t>Practica implementacion de star schema en Warehouse: dimensiones y tabla de hechos.</a:t>
            </a:r>
          </a:p>
        </p:txBody>
      </p:sp>
      <p:sp>
        <p:nvSpPr>
          <p:cNvPr id="8" name="Oval 7"/>
          <p:cNvSpPr/>
          <p:nvPr/>
        </p:nvSpPr>
        <p:spPr>
          <a:xfrm>
            <a:off x="758952" y="2450592"/>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95728"/>
            <a:ext cx="10332720" cy="347472"/>
          </a:xfrm>
          <a:prstGeom prst="rect">
            <a:avLst/>
          </a:prstGeom>
          <a:noFill/>
        </p:spPr>
        <p:txBody>
          <a:bodyPr wrap="square">
            <a:normAutofit/>
          </a:bodyPr>
          <a:lstStyle/>
          <a:p>
            <a:r>
              <a:rPr sz="1500" b="0">
                <a:solidFill>
                  <a:srgbClr val="232B38"/>
                </a:solidFill>
                <a:latin typeface="Segoe UI"/>
              </a:rPr>
              <a:t>Refuerza SQL como experiencia para crear, consultar y validar datos analiticos.</a:t>
            </a:r>
          </a:p>
        </p:txBody>
      </p:sp>
      <p:sp>
        <p:nvSpPr>
          <p:cNvPr id="10" name="Oval 9"/>
          <p:cNvSpPr/>
          <p:nvPr/>
        </p:nvSpPr>
        <p:spPr>
          <a:xfrm>
            <a:off x="758952" y="3017520"/>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62656"/>
            <a:ext cx="10332720" cy="347472"/>
          </a:xfrm>
          <a:prstGeom prst="rect">
            <a:avLst/>
          </a:prstGeom>
          <a:noFill/>
        </p:spPr>
        <p:txBody>
          <a:bodyPr wrap="square">
            <a:normAutofit/>
          </a:bodyPr>
          <a:lstStyle/>
          <a:p>
            <a:r>
              <a:rPr sz="1500" b="0">
                <a:solidFill>
                  <a:srgbClr val="232B38"/>
                </a:solidFill>
                <a:latin typeface="Segoe UI"/>
              </a:rPr>
              <a:t>Separa correctamente Silver limpio de Gold modelado para consumo.</a:t>
            </a:r>
          </a:p>
        </p:txBody>
      </p:sp>
      <p:sp>
        <p:nvSpPr>
          <p:cNvPr id="12" name="Oval 11"/>
          <p:cNvSpPr/>
          <p:nvPr/>
        </p:nvSpPr>
        <p:spPr>
          <a:xfrm>
            <a:off x="758952" y="3584448"/>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29584"/>
            <a:ext cx="10332720" cy="347472"/>
          </a:xfrm>
          <a:prstGeom prst="rect">
            <a:avLst/>
          </a:prstGeom>
          <a:noFill/>
        </p:spPr>
        <p:txBody>
          <a:bodyPr wrap="square">
            <a:normAutofit/>
          </a:bodyPr>
          <a:lstStyle/>
          <a:p>
            <a:r>
              <a:rPr sz="1500" b="0">
                <a:solidFill>
                  <a:srgbClr val="232B38"/>
                </a:solidFill>
                <a:latin typeface="Segoe UI"/>
              </a:rPr>
              <a:t>Prepara el semantic model con claves, granularidad clara y relaciones simples.</a:t>
            </a:r>
          </a:p>
        </p:txBody>
      </p:sp>
      <p:sp>
        <p:nvSpPr>
          <p:cNvPr id="14" name="Oval 13"/>
          <p:cNvSpPr/>
          <p:nvPr/>
        </p:nvSpPr>
        <p:spPr>
          <a:xfrm>
            <a:off x="758952" y="4151376"/>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096512"/>
            <a:ext cx="10332720" cy="347472"/>
          </a:xfrm>
          <a:prstGeom prst="rect">
            <a:avLst/>
          </a:prstGeom>
          <a:noFill/>
        </p:spPr>
        <p:txBody>
          <a:bodyPr wrap="square">
            <a:normAutofit/>
          </a:bodyPr>
          <a:lstStyle/>
          <a:p>
            <a:r>
              <a:rPr sz="1500" b="0">
                <a:solidFill>
                  <a:srgbClr val="232B38"/>
                </a:solidFill>
                <a:latin typeface="Segoe UI"/>
              </a:rPr>
              <a:t>Conecta con preguntas DP-600 sobre modelado, denormalizacion, agregacion, joins y consultas SQL.</a:t>
            </a:r>
          </a:p>
        </p:txBody>
      </p:sp>
      <p:sp>
        <p:nvSpPr>
          <p:cNvPr id="16" name="TextBox 15"/>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17" name="Rectangle 16"/>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9" name="TextBox 18"/>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50-70 MIN | GOLD</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Preguntas tipo DP-600 - Gold</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Warehouse, modelo estrella, dimensiones y tabla de hechos.</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37360"/>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83664"/>
            <a:ext cx="512064" cy="292608"/>
          </a:xfrm>
          <a:prstGeom prst="round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947672"/>
            <a:ext cx="274320" cy="91440"/>
          </a:xfrm>
          <a:prstGeom prst="rect">
            <a:avLst/>
          </a:prstGeom>
          <a:noFill/>
        </p:spPr>
        <p:txBody>
          <a:bodyPr wrap="square">
            <a:normAutofit/>
          </a:bodyPr>
          <a:lstStyle/>
          <a:p>
            <a:pPr algn="ctr"/>
            <a:r>
              <a:rPr sz="750" b="1">
                <a:solidFill>
                  <a:srgbClr val="FFFFFF"/>
                </a:solidFill>
                <a:latin typeface="Segoe UI"/>
              </a:rPr>
              <a:t>Q1</a:t>
            </a:r>
          </a:p>
        </p:txBody>
      </p:sp>
      <p:sp>
        <p:nvSpPr>
          <p:cNvPr id="9" name="TextBox 8"/>
          <p:cNvSpPr txBox="1"/>
          <p:nvPr/>
        </p:nvSpPr>
        <p:spPr>
          <a:xfrm>
            <a:off x="1572768" y="1856231"/>
            <a:ext cx="9802368" cy="256032"/>
          </a:xfrm>
          <a:prstGeom prst="rect">
            <a:avLst/>
          </a:prstGeom>
          <a:noFill/>
        </p:spPr>
        <p:txBody>
          <a:bodyPr wrap="square">
            <a:normAutofit/>
          </a:bodyPr>
          <a:lstStyle/>
          <a:p>
            <a:r>
              <a:rPr sz="1080" b="1">
                <a:solidFill>
                  <a:srgbClr val="142640"/>
                </a:solidFill>
                <a:latin typeface="Segoe UI"/>
              </a:rPr>
              <a:t>Donde construyes las dimensiones y la tabla de hechos para el consumo final?</a:t>
            </a:r>
          </a:p>
        </p:txBody>
      </p:sp>
      <p:sp>
        <p:nvSpPr>
          <p:cNvPr id="10" name="TextBox 9"/>
          <p:cNvSpPr txBox="1"/>
          <p:nvPr/>
        </p:nvSpPr>
        <p:spPr>
          <a:xfrm>
            <a:off x="1572768" y="2212848"/>
            <a:ext cx="9802368" cy="201168"/>
          </a:xfrm>
          <a:prstGeom prst="rect">
            <a:avLst/>
          </a:prstGeom>
          <a:noFill/>
        </p:spPr>
        <p:txBody>
          <a:bodyPr wrap="square">
            <a:normAutofit/>
          </a:bodyPr>
          <a:lstStyle/>
          <a:p>
            <a:r>
              <a:rPr sz="969" b="1">
                <a:solidFill>
                  <a:srgbClr val="232B38"/>
                </a:solidFill>
                <a:latin typeface="Segoe UI"/>
              </a:rPr>
              <a:t>Respuesta: En Gold, dentro del Warehouse.</a:t>
            </a:r>
          </a:p>
        </p:txBody>
      </p:sp>
      <p:sp>
        <p:nvSpPr>
          <p:cNvPr id="11" name="TextBox 10"/>
          <p:cNvSpPr txBox="1"/>
          <p:nvPr/>
        </p:nvSpPr>
        <p:spPr>
          <a:xfrm>
            <a:off x="1572768" y="2487168"/>
            <a:ext cx="9802368" cy="219456"/>
          </a:xfrm>
          <a:prstGeom prst="rect">
            <a:avLst/>
          </a:prstGeom>
          <a:noFill/>
        </p:spPr>
        <p:txBody>
          <a:bodyPr wrap="square">
            <a:normAutofit/>
          </a:bodyPr>
          <a:lstStyle/>
          <a:p>
            <a:r>
              <a:rPr sz="919" b="0">
                <a:solidFill>
                  <a:srgbClr val="55606E"/>
                </a:solidFill>
                <a:latin typeface="Segoe UI"/>
              </a:rPr>
              <a:t>Clave DP-600: Transform data incluye implementar star schema en lakehouse o warehouse.</a:t>
            </a:r>
          </a:p>
        </p:txBody>
      </p:sp>
      <p:sp>
        <p:nvSpPr>
          <p:cNvPr id="12" name="Rounded Rectangle 11"/>
          <p:cNvSpPr/>
          <p:nvPr/>
        </p:nvSpPr>
        <p:spPr>
          <a:xfrm>
            <a:off x="658368" y="3044952"/>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3191256"/>
            <a:ext cx="512064" cy="292608"/>
          </a:xfrm>
          <a:prstGeom prst="roundRect">
            <a:avLst/>
          </a:prstGeom>
          <a:solidFill>
            <a:srgbClr val="346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3255264"/>
            <a:ext cx="274320" cy="91440"/>
          </a:xfrm>
          <a:prstGeom prst="rect">
            <a:avLst/>
          </a:prstGeom>
          <a:noFill/>
        </p:spPr>
        <p:txBody>
          <a:bodyPr wrap="square">
            <a:normAutofit/>
          </a:bodyPr>
          <a:lstStyle/>
          <a:p>
            <a:pPr algn="ctr"/>
            <a:r>
              <a:rPr sz="750" b="1">
                <a:solidFill>
                  <a:srgbClr val="FFFFFF"/>
                </a:solidFill>
                <a:latin typeface="Segoe UI"/>
              </a:rPr>
              <a:t>Q2</a:t>
            </a:r>
          </a:p>
        </p:txBody>
      </p:sp>
      <p:sp>
        <p:nvSpPr>
          <p:cNvPr id="15" name="TextBox 14"/>
          <p:cNvSpPr txBox="1"/>
          <p:nvPr/>
        </p:nvSpPr>
        <p:spPr>
          <a:xfrm>
            <a:off x="1572768" y="3163824"/>
            <a:ext cx="9802368" cy="256032"/>
          </a:xfrm>
          <a:prstGeom prst="rect">
            <a:avLst/>
          </a:prstGeom>
          <a:noFill/>
        </p:spPr>
        <p:txBody>
          <a:bodyPr wrap="square">
            <a:normAutofit/>
          </a:bodyPr>
          <a:lstStyle/>
          <a:p>
            <a:r>
              <a:rPr sz="1080" b="1">
                <a:solidFill>
                  <a:srgbClr val="142640"/>
                </a:solidFill>
                <a:latin typeface="Segoe UI"/>
              </a:rPr>
              <a:t>Que debes explicar siempre al crear gold_fact_ventas?</a:t>
            </a:r>
          </a:p>
        </p:txBody>
      </p:sp>
      <p:sp>
        <p:nvSpPr>
          <p:cNvPr id="16" name="TextBox 15"/>
          <p:cNvSpPr txBox="1"/>
          <p:nvPr/>
        </p:nvSpPr>
        <p:spPr>
          <a:xfrm>
            <a:off x="1572768" y="3520440"/>
            <a:ext cx="9802368" cy="201168"/>
          </a:xfrm>
          <a:prstGeom prst="rect">
            <a:avLst/>
          </a:prstGeom>
          <a:noFill/>
        </p:spPr>
        <p:txBody>
          <a:bodyPr wrap="square">
            <a:normAutofit/>
          </a:bodyPr>
          <a:lstStyle/>
          <a:p>
            <a:r>
              <a:rPr sz="969" b="1">
                <a:solidFill>
                  <a:srgbClr val="232B38"/>
                </a:solidFill>
                <a:latin typeface="Segoe UI"/>
              </a:rPr>
              <a:t>Respuesta: El grano: una fila representa una linea de venta.</a:t>
            </a:r>
          </a:p>
        </p:txBody>
      </p:sp>
      <p:sp>
        <p:nvSpPr>
          <p:cNvPr id="17" name="TextBox 16"/>
          <p:cNvSpPr txBox="1"/>
          <p:nvPr/>
        </p:nvSpPr>
        <p:spPr>
          <a:xfrm>
            <a:off x="1572768" y="3794760"/>
            <a:ext cx="9802368" cy="219456"/>
          </a:xfrm>
          <a:prstGeom prst="rect">
            <a:avLst/>
          </a:prstGeom>
          <a:noFill/>
        </p:spPr>
        <p:txBody>
          <a:bodyPr wrap="square">
            <a:normAutofit/>
          </a:bodyPr>
          <a:lstStyle/>
          <a:p>
            <a:r>
              <a:rPr sz="919" b="0">
                <a:solidFill>
                  <a:srgbClr val="55606E"/>
                </a:solidFill>
                <a:latin typeface="Segoe UI"/>
              </a:rPr>
              <a:t>Clave DP-600: El grano define como se agregan ventas, cantidades, costos y margen.</a:t>
            </a:r>
          </a:p>
        </p:txBody>
      </p:sp>
      <p:sp>
        <p:nvSpPr>
          <p:cNvPr id="18" name="Rounded Rectangle 17"/>
          <p:cNvSpPr/>
          <p:nvPr/>
        </p:nvSpPr>
        <p:spPr>
          <a:xfrm>
            <a:off x="658368" y="4352544"/>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4498848"/>
            <a:ext cx="512064" cy="292608"/>
          </a:xfrm>
          <a:prstGeom prst="roundRect">
            <a:avLst/>
          </a:prstGeom>
          <a:solidFill>
            <a:srgbClr val="22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4562856"/>
            <a:ext cx="274320" cy="91440"/>
          </a:xfrm>
          <a:prstGeom prst="rect">
            <a:avLst/>
          </a:prstGeom>
          <a:noFill/>
        </p:spPr>
        <p:txBody>
          <a:bodyPr wrap="square">
            <a:normAutofit/>
          </a:bodyPr>
          <a:lstStyle/>
          <a:p>
            <a:pPr algn="ctr"/>
            <a:r>
              <a:rPr sz="750" b="1">
                <a:solidFill>
                  <a:srgbClr val="FFFFFF"/>
                </a:solidFill>
                <a:latin typeface="Segoe UI"/>
              </a:rPr>
              <a:t>Q3</a:t>
            </a:r>
          </a:p>
        </p:txBody>
      </p:sp>
      <p:sp>
        <p:nvSpPr>
          <p:cNvPr id="21" name="TextBox 20"/>
          <p:cNvSpPr txBox="1"/>
          <p:nvPr/>
        </p:nvSpPr>
        <p:spPr>
          <a:xfrm>
            <a:off x="1572768" y="4471416"/>
            <a:ext cx="9802368" cy="256032"/>
          </a:xfrm>
          <a:prstGeom prst="rect">
            <a:avLst/>
          </a:prstGeom>
          <a:noFill/>
        </p:spPr>
        <p:txBody>
          <a:bodyPr wrap="square">
            <a:normAutofit/>
          </a:bodyPr>
          <a:lstStyle/>
          <a:p>
            <a:r>
              <a:rPr sz="1080" b="1">
                <a:solidFill>
                  <a:srgbClr val="142640"/>
                </a:solidFill>
                <a:latin typeface="Segoe UI"/>
              </a:rPr>
              <a:t>Por que la fact usa ClienteKey, ProductoKey, RegionKey, FechaKey y VendedorKey?</a:t>
            </a:r>
          </a:p>
        </p:txBody>
      </p:sp>
      <p:sp>
        <p:nvSpPr>
          <p:cNvPr id="22" name="TextBox 21"/>
          <p:cNvSpPr txBox="1"/>
          <p:nvPr/>
        </p:nvSpPr>
        <p:spPr>
          <a:xfrm>
            <a:off x="1572768" y="4828031"/>
            <a:ext cx="9802368" cy="201168"/>
          </a:xfrm>
          <a:prstGeom prst="rect">
            <a:avLst/>
          </a:prstGeom>
          <a:noFill/>
        </p:spPr>
        <p:txBody>
          <a:bodyPr wrap="square">
            <a:normAutofit/>
          </a:bodyPr>
          <a:lstStyle/>
          <a:p>
            <a:r>
              <a:rPr sz="969" b="1">
                <a:solidFill>
                  <a:srgbClr val="232B38"/>
                </a:solidFill>
                <a:latin typeface="Segoe UI"/>
              </a:rPr>
              <a:t>Respuesta: Para relacionarse con dimensiones y facilitar un modelo semantico simple.</a:t>
            </a:r>
          </a:p>
        </p:txBody>
      </p:sp>
      <p:sp>
        <p:nvSpPr>
          <p:cNvPr id="23" name="TextBox 22"/>
          <p:cNvSpPr txBox="1"/>
          <p:nvPr/>
        </p:nvSpPr>
        <p:spPr>
          <a:xfrm>
            <a:off x="1572768" y="5102352"/>
            <a:ext cx="9802368" cy="219456"/>
          </a:xfrm>
          <a:prstGeom prst="rect">
            <a:avLst/>
          </a:prstGeom>
          <a:noFill/>
        </p:spPr>
        <p:txBody>
          <a:bodyPr wrap="square">
            <a:normAutofit/>
          </a:bodyPr>
          <a:lstStyle/>
          <a:p>
            <a:r>
              <a:rPr sz="919" b="0">
                <a:solidFill>
                  <a:srgbClr val="55606E"/>
                </a:solidFill>
                <a:latin typeface="Segoe UI"/>
              </a:rPr>
              <a:t>Clave DP-600: DP-600 evalua star schema, relaciones y preparacion para semantic models.</a:t>
            </a:r>
          </a:p>
        </p:txBody>
      </p:sp>
      <p:sp>
        <p:nvSpPr>
          <p:cNvPr id="24" name="TextBox 23"/>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25" name="Rectangle 24"/>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27" name="TextBox 26"/>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50-70 MIN | GOLD</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SQL Gold - codigo 1/9</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Creacion de dimensiones, fact y validaciones.</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001  -- Data Days DP-600 - Warehouse Gold / Oro
002  -- Objetivo: crear modelo dimensional desde Silver.
003  -- Origen: [LK_plata].[dbo].[silver_ventas360_limpia]
004  
005  DROP TABLE IF EXISTS dbo.gold_fact_ventas;
006  DROP TABLE IF EXISTS dbo.gold_dim_fecha;
007  DROP TABLE IF EXISTS dbo.gold_dim_cliente;
008  DROP TABLE IF EXISTS dbo.gold_dim_producto;
009  DROP TABLE IF EXISTS dbo.gold_dim_region;
010  DROP TABLE IF EXISTS dbo.gold_dim_vendedor;
011  
012  -- DIM FECHA
013  CREATE TABLE dbo.gold_dim_fecha
014  AS
015  SELECT
016      YEAR(FechaVenta) * 10000 + MONTH(FechaVenta) * 100 + DAY(FechaVenta) AS FechaKey,
017      FechaVenta,
018      Anio,
019      MesNumero,
020      MesNombre,</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50-70 MIN | GOLD</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SQL Gold - codigo 2/9</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Creacion de dimensiones, fact y validaciones.</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021      DATEPART(QUARTER, FechaVenta) AS Trimestre,
022      DAY(FechaVenta) AS Dia
023  FROM (
024      SELECT DISTINCT
025          FechaVenta,
026          Anio,
027          MesNumero,
028          MesNombre
029      FROM [LK_plata].[dbo].[silver_ventas360_limpia]
030      WHERE FechaVenta IS NOT NULL
031  ) f;
032  
033  -- DIM CLIENTE
034  CREATE TABLE dbo.gold_dim_cliente
035  AS
036  SELECT
037      ROW_NUMBER() OVER (ORDER BY ClienteID) AS ClienteKey,
038      ClienteID,
039      ClienteNombre,
040      SegmentoCliente,</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50-70 MIN | GOLD</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SQL Gold - codigo 3/9</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Creacion de dimensiones, fact y validaciones.</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041      IndustriaCliente
042  FROM (
043      SELECT DISTINCT
044          ClienteID,
045          ClienteNombre,
046          SegmentoCliente,
047          IndustriaCliente
048      FROM [LK_plata].[dbo].[silver_ventas360_limpia]
049      WHERE ClienteID IS NOT NULL
050  ) c;
051  
052  -- DIM PRODUCTO
053  CREATE TABLE dbo.gold_dim_producto
054  AS
055  SELECT
056      ROW_NUMBER() OVER (ORDER BY ProductoID) AS ProductoKey,
057      ProductoID,
058      ProductoNombre,
059      CategoriaProducto,
060      MarcaProducto</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50-70 MIN | GOLD</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SQL Gold - codigo 4/9</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Creacion de dimensiones, fact y validaciones.</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061  FROM (
062      SELECT DISTINCT
063          ProductoID,
064          ProductoNombre,
065          CategoriaProducto,
066          MarcaProducto
067      FROM [LK_plata].[dbo].[silver_ventas360_limpia]
068      WHERE ProductoID IS NOT NULL
069  ) p;
070  
071  -- DIM REGION
072  CREATE TABLE dbo.gold_dim_region
073  AS
074  SELECT
075      ROW_NUMBER() OVER (ORDER BY RegionID) AS RegionKey,
076      RegionID,
077      RegionNombre,
078      Pais,
079      ResponsableRegionEmail
080  FROM (</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50-70 MIN | GOLD</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SQL Gold - codigo 5/9</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Creacion de dimensiones, fact y validaciones.</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081      SELECT DISTINCT
082          RegionID,
083          RegionNombre,
084          Pais,
085          ResponsableRegionEmail
086      FROM [LK_plata].[dbo].[silver_ventas360_limpia]
087      WHERE RegionID IS NOT NULL
088  ) r;
089  
090  -- DIM VENDEDOR
091  CREATE TABLE dbo.gold_dim_vendedor
092  AS
093  SELECT
094      ROW_NUMBER() OVER (ORDER BY VendedorID) AS VendedorKey,
095      VendedorID,
096      VendedorNombre
097  FROM (
098      SELECT DISTINCT
099          VendedorID,
100          VendedorNombre</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50-70 MIN | GOLD</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SQL Gold - codigo 6/9</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Creacion de dimensiones, fact y validaciones.</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101      FROM [LK_plata].[dbo].[silver_ventas360_limpia]
102      WHERE VendedorID IS NOT NULL
103  ) v;
104  
105  -- FACT VENTAS
106  CREATE TABLE dbo.gold_fact_ventas
107  AS
108  SELECT
109      s.VentaID,
110      df.FechaKey,
111      dc.ClienteKey,
112      dp.ProductoKey,
113      dr.RegionKey,
114      dv.VendedorKey,
115      s.CanalVenta,
116      s.EstadoPedido,
117      s.MetodoPago,
118      s.Cantidad,
119      s.PrecioUnitario,
120      s.CostoUnitario,</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50-70 MIN | GOLD</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SQL Gold - codigo 7/9</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Creacion de dimensiones, fact y validaciones.</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121      s.DescuentoPct,
122      s.ImporteBruto,
123      s.ImporteDescuento,
124      s.ImporteNeto,
125      s.CostoTotal,
126      s.Margen,
127      s.FechaVenta,
128      s.FechaCarga,
129      s.FechaProcesoSilver,
130      s.HashVentaNegocio
131  FROM [LK_plata].[dbo].[silver_ventas360_limpia] s
132  LEFT JOIN dbo.gold_dim_fecha df
133      ON s.FechaVenta = df.FechaVenta
134  LEFT JOIN dbo.gold_dim_cliente dc
135      ON s.ClienteID = dc.ClienteID
136  LEFT JOIN dbo.gold_dim_producto dp
137      ON s.ProductoID = dp.ProductoID
138  LEFT JOIN dbo.gold_dim_region dr
139      ON s.RegionID = dr.RegionID
140  LEFT JOIN dbo.gold_dim_vendedor dv</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50-70 MIN | GOLD</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SQL Gold - codigo 8/9</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Creacion de dimensiones, fact y validaciones.</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141      ON s.VendedorID = dv.VendedorID
142  WHERE s.EsDuplicadoNegocio = 0;
143  
144  -- VALIDACIONES
145  SELECT COUNT(*) AS FilasFactVentas
146  FROM dbo.gold_fact_ventas;
147  
148  SELECT SUM(ImporteNeto) AS VentasTotales
149  FROM dbo.gold_fact_ventas;
150  
151  SELECT SUM(Margen) AS MargenTotal
152  FROM dbo.gold_fact_ventas;
153  
154  SELECT
155      r.RegionNombre,
156      SUM(f.ImporteNeto) AS Ventas
157  FROM dbo.gold_fact_ventas f
158  INNER JOIN dbo.gold_dim_region r
159      ON f.RegionKey = r.RegionKey
160  GROUP BY r.RegionNombre</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50-70 MIN | GOLD</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SQL Gold - codigo 9/9</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Creacion de dimensiones, fact y validaciones.</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161  ORDER BY Ventas DESC;</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70-80 MIN | SEMANTIC MODEL</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Relaciones en Power BI</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Todas las relaciones van de dimensiones a fact con direccion Single.</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783080"/>
            <a:ext cx="2423160" cy="420624"/>
          </a:xfrm>
          <a:prstGeom prst="rect">
            <a:avLst/>
          </a:prstGeom>
          <a:solidFill>
            <a:srgbClr val="00788C"/>
          </a:solidFill>
          <a:ln>
            <a:solidFill>
              <a:srgbClr val="00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892807"/>
            <a:ext cx="2240279" cy="128016"/>
          </a:xfrm>
          <a:prstGeom prst="rect">
            <a:avLst/>
          </a:prstGeom>
          <a:noFill/>
        </p:spPr>
        <p:txBody>
          <a:bodyPr wrap="square">
            <a:normAutofit/>
          </a:bodyPr>
          <a:lstStyle/>
          <a:p>
            <a:r>
              <a:rPr sz="850" b="1">
                <a:solidFill>
                  <a:srgbClr val="FFFFFF"/>
                </a:solidFill>
                <a:latin typeface="Segoe UI"/>
              </a:rPr>
              <a:t>Desde</a:t>
            </a:r>
          </a:p>
        </p:txBody>
      </p:sp>
      <p:sp>
        <p:nvSpPr>
          <p:cNvPr id="8" name="Rectangle 7"/>
          <p:cNvSpPr/>
          <p:nvPr/>
        </p:nvSpPr>
        <p:spPr>
          <a:xfrm>
            <a:off x="3081528" y="1783080"/>
            <a:ext cx="3291840" cy="420624"/>
          </a:xfrm>
          <a:prstGeom prst="rect">
            <a:avLst/>
          </a:prstGeom>
          <a:solidFill>
            <a:srgbClr val="00788C"/>
          </a:solidFill>
          <a:ln>
            <a:solidFill>
              <a:srgbClr val="00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72968" y="1892807"/>
            <a:ext cx="3108960" cy="128016"/>
          </a:xfrm>
          <a:prstGeom prst="rect">
            <a:avLst/>
          </a:prstGeom>
          <a:noFill/>
        </p:spPr>
        <p:txBody>
          <a:bodyPr wrap="square">
            <a:normAutofit/>
          </a:bodyPr>
          <a:lstStyle/>
          <a:p>
            <a:r>
              <a:rPr sz="850" b="1">
                <a:solidFill>
                  <a:srgbClr val="FFFFFF"/>
                </a:solidFill>
                <a:latin typeface="Segoe UI"/>
              </a:rPr>
              <a:t>Hasta</a:t>
            </a:r>
          </a:p>
        </p:txBody>
      </p:sp>
      <p:sp>
        <p:nvSpPr>
          <p:cNvPr id="10" name="Rectangle 9"/>
          <p:cNvSpPr/>
          <p:nvPr/>
        </p:nvSpPr>
        <p:spPr>
          <a:xfrm>
            <a:off x="6373368" y="1783080"/>
            <a:ext cx="4892040" cy="420624"/>
          </a:xfrm>
          <a:prstGeom prst="rect">
            <a:avLst/>
          </a:prstGeom>
          <a:solidFill>
            <a:srgbClr val="00788C"/>
          </a:solidFill>
          <a:ln>
            <a:solidFill>
              <a:srgbClr val="00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7" y="1892807"/>
            <a:ext cx="4709159" cy="128016"/>
          </a:xfrm>
          <a:prstGeom prst="rect">
            <a:avLst/>
          </a:prstGeom>
          <a:noFill/>
        </p:spPr>
        <p:txBody>
          <a:bodyPr wrap="square">
            <a:normAutofit/>
          </a:bodyPr>
          <a:lstStyle/>
          <a:p>
            <a:r>
              <a:rPr sz="850" b="1">
                <a:solidFill>
                  <a:srgbClr val="FFFFFF"/>
                </a:solidFill>
                <a:latin typeface="Segoe UI"/>
              </a:rPr>
              <a:t>Configuracion</a:t>
            </a:r>
          </a:p>
        </p:txBody>
      </p:sp>
      <p:sp>
        <p:nvSpPr>
          <p:cNvPr id="12" name="Rectangle 11"/>
          <p:cNvSpPr/>
          <p:nvPr/>
        </p:nvSpPr>
        <p:spPr>
          <a:xfrm>
            <a:off x="658368" y="2203704"/>
            <a:ext cx="242316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295144"/>
            <a:ext cx="2240279" cy="146304"/>
          </a:xfrm>
          <a:prstGeom prst="rect">
            <a:avLst/>
          </a:prstGeom>
          <a:noFill/>
        </p:spPr>
        <p:txBody>
          <a:bodyPr wrap="square">
            <a:normAutofit/>
          </a:bodyPr>
          <a:lstStyle/>
          <a:p>
            <a:r>
              <a:rPr sz="780" b="1">
                <a:solidFill>
                  <a:srgbClr val="232B38"/>
                </a:solidFill>
                <a:latin typeface="Segoe UI"/>
              </a:rPr>
              <a:t>gold_dim_fecha[FechaKey]</a:t>
            </a:r>
          </a:p>
        </p:txBody>
      </p:sp>
      <p:sp>
        <p:nvSpPr>
          <p:cNvPr id="14" name="Rectangle 13"/>
          <p:cNvSpPr/>
          <p:nvPr/>
        </p:nvSpPr>
        <p:spPr>
          <a:xfrm>
            <a:off x="3081528" y="2203704"/>
            <a:ext cx="32918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72968" y="2295144"/>
            <a:ext cx="3108960" cy="146304"/>
          </a:xfrm>
          <a:prstGeom prst="rect">
            <a:avLst/>
          </a:prstGeom>
          <a:noFill/>
        </p:spPr>
        <p:txBody>
          <a:bodyPr wrap="square">
            <a:normAutofit/>
          </a:bodyPr>
          <a:lstStyle/>
          <a:p>
            <a:r>
              <a:rPr sz="780" b="0">
                <a:solidFill>
                  <a:srgbClr val="232B38"/>
                </a:solidFill>
                <a:latin typeface="Segoe UI"/>
              </a:rPr>
              <a:t>gold_fact_ventas[FechaKey]</a:t>
            </a:r>
          </a:p>
        </p:txBody>
      </p:sp>
      <p:sp>
        <p:nvSpPr>
          <p:cNvPr id="16" name="Rectangle 15"/>
          <p:cNvSpPr/>
          <p:nvPr/>
        </p:nvSpPr>
        <p:spPr>
          <a:xfrm>
            <a:off x="6373368" y="2203704"/>
            <a:ext cx="48920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7" y="2295144"/>
            <a:ext cx="4709159" cy="146304"/>
          </a:xfrm>
          <a:prstGeom prst="rect">
            <a:avLst/>
          </a:prstGeom>
          <a:noFill/>
        </p:spPr>
        <p:txBody>
          <a:bodyPr wrap="square">
            <a:normAutofit/>
          </a:bodyPr>
          <a:lstStyle/>
          <a:p>
            <a:r>
              <a:rPr sz="780" b="0">
                <a:solidFill>
                  <a:srgbClr val="232B38"/>
                </a:solidFill>
                <a:latin typeface="Segoe UI"/>
              </a:rPr>
              <a:t>1:* · Single</a:t>
            </a:r>
          </a:p>
        </p:txBody>
      </p:sp>
      <p:sp>
        <p:nvSpPr>
          <p:cNvPr id="18" name="Rectangle 17"/>
          <p:cNvSpPr/>
          <p:nvPr/>
        </p:nvSpPr>
        <p:spPr>
          <a:xfrm>
            <a:off x="658368" y="2660904"/>
            <a:ext cx="242316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752344"/>
            <a:ext cx="2240279" cy="146304"/>
          </a:xfrm>
          <a:prstGeom prst="rect">
            <a:avLst/>
          </a:prstGeom>
          <a:noFill/>
        </p:spPr>
        <p:txBody>
          <a:bodyPr wrap="square">
            <a:normAutofit/>
          </a:bodyPr>
          <a:lstStyle/>
          <a:p>
            <a:r>
              <a:rPr sz="780" b="1">
                <a:solidFill>
                  <a:srgbClr val="232B38"/>
                </a:solidFill>
                <a:latin typeface="Segoe UI"/>
              </a:rPr>
              <a:t>gold_dim_cliente[ClienteKey]</a:t>
            </a:r>
          </a:p>
        </p:txBody>
      </p:sp>
      <p:sp>
        <p:nvSpPr>
          <p:cNvPr id="20" name="Rectangle 19"/>
          <p:cNvSpPr/>
          <p:nvPr/>
        </p:nvSpPr>
        <p:spPr>
          <a:xfrm>
            <a:off x="3081528" y="2660904"/>
            <a:ext cx="32918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72968" y="2752344"/>
            <a:ext cx="3108960" cy="146304"/>
          </a:xfrm>
          <a:prstGeom prst="rect">
            <a:avLst/>
          </a:prstGeom>
          <a:noFill/>
        </p:spPr>
        <p:txBody>
          <a:bodyPr wrap="square">
            <a:normAutofit/>
          </a:bodyPr>
          <a:lstStyle/>
          <a:p>
            <a:r>
              <a:rPr sz="780" b="0">
                <a:solidFill>
                  <a:srgbClr val="232B38"/>
                </a:solidFill>
                <a:latin typeface="Segoe UI"/>
              </a:rPr>
              <a:t>gold_fact_ventas[ClienteKey]</a:t>
            </a:r>
          </a:p>
        </p:txBody>
      </p:sp>
      <p:sp>
        <p:nvSpPr>
          <p:cNvPr id="22" name="Rectangle 21"/>
          <p:cNvSpPr/>
          <p:nvPr/>
        </p:nvSpPr>
        <p:spPr>
          <a:xfrm>
            <a:off x="6373368" y="2660904"/>
            <a:ext cx="48920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7" y="2752344"/>
            <a:ext cx="4709159" cy="146304"/>
          </a:xfrm>
          <a:prstGeom prst="rect">
            <a:avLst/>
          </a:prstGeom>
          <a:noFill/>
        </p:spPr>
        <p:txBody>
          <a:bodyPr wrap="square">
            <a:normAutofit/>
          </a:bodyPr>
          <a:lstStyle/>
          <a:p>
            <a:r>
              <a:rPr sz="780" b="0">
                <a:solidFill>
                  <a:srgbClr val="232B38"/>
                </a:solidFill>
                <a:latin typeface="Segoe UI"/>
              </a:rPr>
              <a:t>1:* · Single</a:t>
            </a:r>
          </a:p>
        </p:txBody>
      </p:sp>
      <p:sp>
        <p:nvSpPr>
          <p:cNvPr id="24" name="Rectangle 23"/>
          <p:cNvSpPr/>
          <p:nvPr/>
        </p:nvSpPr>
        <p:spPr>
          <a:xfrm>
            <a:off x="658368" y="3118104"/>
            <a:ext cx="242316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209544"/>
            <a:ext cx="2240279" cy="146304"/>
          </a:xfrm>
          <a:prstGeom prst="rect">
            <a:avLst/>
          </a:prstGeom>
          <a:noFill/>
        </p:spPr>
        <p:txBody>
          <a:bodyPr wrap="square">
            <a:normAutofit/>
          </a:bodyPr>
          <a:lstStyle/>
          <a:p>
            <a:r>
              <a:rPr sz="780" b="1">
                <a:solidFill>
                  <a:srgbClr val="232B38"/>
                </a:solidFill>
                <a:latin typeface="Segoe UI"/>
              </a:rPr>
              <a:t>gold_dim_producto[ProductoKey]</a:t>
            </a:r>
          </a:p>
        </p:txBody>
      </p:sp>
      <p:sp>
        <p:nvSpPr>
          <p:cNvPr id="26" name="Rectangle 25"/>
          <p:cNvSpPr/>
          <p:nvPr/>
        </p:nvSpPr>
        <p:spPr>
          <a:xfrm>
            <a:off x="3081528" y="3118104"/>
            <a:ext cx="32918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72968" y="3209544"/>
            <a:ext cx="3108960" cy="146304"/>
          </a:xfrm>
          <a:prstGeom prst="rect">
            <a:avLst/>
          </a:prstGeom>
          <a:noFill/>
        </p:spPr>
        <p:txBody>
          <a:bodyPr wrap="square">
            <a:normAutofit/>
          </a:bodyPr>
          <a:lstStyle/>
          <a:p>
            <a:r>
              <a:rPr sz="780" b="0">
                <a:solidFill>
                  <a:srgbClr val="232B38"/>
                </a:solidFill>
                <a:latin typeface="Segoe UI"/>
              </a:rPr>
              <a:t>gold_fact_ventas[ProductoKey]</a:t>
            </a:r>
          </a:p>
        </p:txBody>
      </p:sp>
      <p:sp>
        <p:nvSpPr>
          <p:cNvPr id="28" name="Rectangle 27"/>
          <p:cNvSpPr/>
          <p:nvPr/>
        </p:nvSpPr>
        <p:spPr>
          <a:xfrm>
            <a:off x="6373368" y="3118104"/>
            <a:ext cx="48920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4807" y="3209544"/>
            <a:ext cx="4709159" cy="146304"/>
          </a:xfrm>
          <a:prstGeom prst="rect">
            <a:avLst/>
          </a:prstGeom>
          <a:noFill/>
        </p:spPr>
        <p:txBody>
          <a:bodyPr wrap="square">
            <a:normAutofit/>
          </a:bodyPr>
          <a:lstStyle/>
          <a:p>
            <a:r>
              <a:rPr sz="780" b="0">
                <a:solidFill>
                  <a:srgbClr val="232B38"/>
                </a:solidFill>
                <a:latin typeface="Segoe UI"/>
              </a:rPr>
              <a:t>1:* · Single</a:t>
            </a:r>
          </a:p>
        </p:txBody>
      </p:sp>
      <p:sp>
        <p:nvSpPr>
          <p:cNvPr id="30" name="Rectangle 29"/>
          <p:cNvSpPr/>
          <p:nvPr/>
        </p:nvSpPr>
        <p:spPr>
          <a:xfrm>
            <a:off x="658368" y="3575304"/>
            <a:ext cx="242316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3666744"/>
            <a:ext cx="2240279" cy="146304"/>
          </a:xfrm>
          <a:prstGeom prst="rect">
            <a:avLst/>
          </a:prstGeom>
          <a:noFill/>
        </p:spPr>
        <p:txBody>
          <a:bodyPr wrap="square">
            <a:normAutofit/>
          </a:bodyPr>
          <a:lstStyle/>
          <a:p>
            <a:r>
              <a:rPr sz="780" b="1">
                <a:solidFill>
                  <a:srgbClr val="232B38"/>
                </a:solidFill>
                <a:latin typeface="Segoe UI"/>
              </a:rPr>
              <a:t>gold_dim_region[RegionKey]</a:t>
            </a:r>
          </a:p>
        </p:txBody>
      </p:sp>
      <p:sp>
        <p:nvSpPr>
          <p:cNvPr id="32" name="Rectangle 31"/>
          <p:cNvSpPr/>
          <p:nvPr/>
        </p:nvSpPr>
        <p:spPr>
          <a:xfrm>
            <a:off x="3081528" y="3575304"/>
            <a:ext cx="32918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72968" y="3666744"/>
            <a:ext cx="3108960" cy="146304"/>
          </a:xfrm>
          <a:prstGeom prst="rect">
            <a:avLst/>
          </a:prstGeom>
          <a:noFill/>
        </p:spPr>
        <p:txBody>
          <a:bodyPr wrap="square">
            <a:normAutofit/>
          </a:bodyPr>
          <a:lstStyle/>
          <a:p>
            <a:r>
              <a:rPr sz="780" b="0">
                <a:solidFill>
                  <a:srgbClr val="232B38"/>
                </a:solidFill>
                <a:latin typeface="Segoe UI"/>
              </a:rPr>
              <a:t>gold_fact_ventas[RegionKey]</a:t>
            </a:r>
          </a:p>
        </p:txBody>
      </p:sp>
      <p:sp>
        <p:nvSpPr>
          <p:cNvPr id="34" name="Rectangle 33"/>
          <p:cNvSpPr/>
          <p:nvPr/>
        </p:nvSpPr>
        <p:spPr>
          <a:xfrm>
            <a:off x="6373368" y="3575304"/>
            <a:ext cx="4892040" cy="457200"/>
          </a:xfrm>
          <a:prstGeom prst="rect">
            <a:avLst/>
          </a:prstGeom>
          <a:solidFill>
            <a:srgbClr val="FFFFFF"/>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4807" y="3666744"/>
            <a:ext cx="4709159" cy="146304"/>
          </a:xfrm>
          <a:prstGeom prst="rect">
            <a:avLst/>
          </a:prstGeom>
          <a:noFill/>
        </p:spPr>
        <p:txBody>
          <a:bodyPr wrap="square">
            <a:normAutofit/>
          </a:bodyPr>
          <a:lstStyle/>
          <a:p>
            <a:r>
              <a:rPr sz="780" b="0">
                <a:solidFill>
                  <a:srgbClr val="232B38"/>
                </a:solidFill>
                <a:latin typeface="Segoe UI"/>
              </a:rPr>
              <a:t>1:* · Single</a:t>
            </a:r>
          </a:p>
        </p:txBody>
      </p:sp>
      <p:sp>
        <p:nvSpPr>
          <p:cNvPr id="36" name="Rectangle 35"/>
          <p:cNvSpPr/>
          <p:nvPr/>
        </p:nvSpPr>
        <p:spPr>
          <a:xfrm>
            <a:off x="658368" y="4032504"/>
            <a:ext cx="242316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8" y="4123944"/>
            <a:ext cx="2240279" cy="146304"/>
          </a:xfrm>
          <a:prstGeom prst="rect">
            <a:avLst/>
          </a:prstGeom>
          <a:noFill/>
        </p:spPr>
        <p:txBody>
          <a:bodyPr wrap="square">
            <a:normAutofit/>
          </a:bodyPr>
          <a:lstStyle/>
          <a:p>
            <a:r>
              <a:rPr sz="780" b="1">
                <a:solidFill>
                  <a:srgbClr val="232B38"/>
                </a:solidFill>
                <a:latin typeface="Segoe UI"/>
              </a:rPr>
              <a:t>gold_dim_vendedor[VendedorKey]</a:t>
            </a:r>
          </a:p>
        </p:txBody>
      </p:sp>
      <p:sp>
        <p:nvSpPr>
          <p:cNvPr id="38" name="Rectangle 37"/>
          <p:cNvSpPr/>
          <p:nvPr/>
        </p:nvSpPr>
        <p:spPr>
          <a:xfrm>
            <a:off x="3081528" y="4032504"/>
            <a:ext cx="32918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72968" y="4123944"/>
            <a:ext cx="3108960" cy="146304"/>
          </a:xfrm>
          <a:prstGeom prst="rect">
            <a:avLst/>
          </a:prstGeom>
          <a:noFill/>
        </p:spPr>
        <p:txBody>
          <a:bodyPr wrap="square">
            <a:normAutofit/>
          </a:bodyPr>
          <a:lstStyle/>
          <a:p>
            <a:r>
              <a:rPr sz="780" b="0">
                <a:solidFill>
                  <a:srgbClr val="232B38"/>
                </a:solidFill>
                <a:latin typeface="Segoe UI"/>
              </a:rPr>
              <a:t>gold_fact_ventas[VendedorKey]</a:t>
            </a:r>
          </a:p>
        </p:txBody>
      </p:sp>
      <p:sp>
        <p:nvSpPr>
          <p:cNvPr id="40" name="Rectangle 39"/>
          <p:cNvSpPr/>
          <p:nvPr/>
        </p:nvSpPr>
        <p:spPr>
          <a:xfrm>
            <a:off x="6373368" y="4032504"/>
            <a:ext cx="4892040" cy="457200"/>
          </a:xfrm>
          <a:prstGeom prst="rect">
            <a:avLst/>
          </a:prstGeom>
          <a:solidFill>
            <a:srgbClr val="F8FCFD"/>
          </a:solidFill>
          <a:ln>
            <a:solidFill>
              <a:srgbClr val="DA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64807" y="4123944"/>
            <a:ext cx="4709159" cy="146304"/>
          </a:xfrm>
          <a:prstGeom prst="rect">
            <a:avLst/>
          </a:prstGeom>
          <a:noFill/>
        </p:spPr>
        <p:txBody>
          <a:bodyPr wrap="square">
            <a:normAutofit/>
          </a:bodyPr>
          <a:lstStyle/>
          <a:p>
            <a:r>
              <a:rPr sz="780" b="0">
                <a:solidFill>
                  <a:srgbClr val="232B38"/>
                </a:solidFill>
                <a:latin typeface="Segoe UI"/>
              </a:rPr>
              <a:t>1:* · Single</a:t>
            </a:r>
          </a:p>
        </p:txBody>
      </p:sp>
      <p:sp>
        <p:nvSpPr>
          <p:cNvPr id="42" name="TextBox 41"/>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43" name="Rectangle 42"/>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45" name="TextBox 44"/>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70-80 MIN | SEMANTIC MODEL</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Modelo semantico y DP-600</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Esta fase entrena el nucleo de Power BI/Fabric semantic models.</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883664"/>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332720" cy="347472"/>
          </a:xfrm>
          <a:prstGeom prst="rect">
            <a:avLst/>
          </a:prstGeom>
          <a:noFill/>
        </p:spPr>
        <p:txBody>
          <a:bodyPr wrap="square">
            <a:normAutofit/>
          </a:bodyPr>
          <a:lstStyle/>
          <a:p>
            <a:r>
              <a:rPr sz="1500" b="0">
                <a:solidFill>
                  <a:srgbClr val="232B38"/>
                </a:solidFill>
                <a:latin typeface="Segoe UI"/>
              </a:rPr>
              <a:t>Practica relaciones 1:* desde dimensiones hacia gold_fact_ventas.</a:t>
            </a:r>
          </a:p>
        </p:txBody>
      </p:sp>
      <p:sp>
        <p:nvSpPr>
          <p:cNvPr id="8" name="Oval 7"/>
          <p:cNvSpPr/>
          <p:nvPr/>
        </p:nvSpPr>
        <p:spPr>
          <a:xfrm>
            <a:off x="758952" y="2450592"/>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95728"/>
            <a:ext cx="10332720" cy="347472"/>
          </a:xfrm>
          <a:prstGeom prst="rect">
            <a:avLst/>
          </a:prstGeom>
          <a:noFill/>
        </p:spPr>
        <p:txBody>
          <a:bodyPr wrap="square">
            <a:normAutofit/>
          </a:bodyPr>
          <a:lstStyle/>
          <a:p>
            <a:r>
              <a:rPr sz="1500" b="0">
                <a:solidFill>
                  <a:srgbClr val="232B38"/>
                </a:solidFill>
                <a:latin typeface="Segoe UI"/>
              </a:rPr>
              <a:t>Refuerza direccion de filtro Single para un modelo mas predecible.</a:t>
            </a:r>
          </a:p>
        </p:txBody>
      </p:sp>
      <p:sp>
        <p:nvSpPr>
          <p:cNvPr id="10" name="Oval 9"/>
          <p:cNvSpPr/>
          <p:nvPr/>
        </p:nvSpPr>
        <p:spPr>
          <a:xfrm>
            <a:off x="758952" y="3017520"/>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62656"/>
            <a:ext cx="10332720" cy="347472"/>
          </a:xfrm>
          <a:prstGeom prst="rect">
            <a:avLst/>
          </a:prstGeom>
          <a:noFill/>
        </p:spPr>
        <p:txBody>
          <a:bodyPr wrap="square">
            <a:normAutofit/>
          </a:bodyPr>
          <a:lstStyle/>
          <a:p>
            <a:r>
              <a:rPr sz="1500" b="0">
                <a:solidFill>
                  <a:srgbClr val="232B38"/>
                </a:solidFill>
                <a:latin typeface="Segoe UI"/>
              </a:rPr>
              <a:t>Crea medidas DAX basicas y gobernadas, en vez de calcular KPIs en cada visual.</a:t>
            </a:r>
          </a:p>
        </p:txBody>
      </p:sp>
      <p:sp>
        <p:nvSpPr>
          <p:cNvPr id="12" name="Oval 11"/>
          <p:cNvSpPr/>
          <p:nvPr/>
        </p:nvSpPr>
        <p:spPr>
          <a:xfrm>
            <a:off x="758952" y="3584448"/>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29584"/>
            <a:ext cx="10332720" cy="347472"/>
          </a:xfrm>
          <a:prstGeom prst="rect">
            <a:avLst/>
          </a:prstGeom>
          <a:noFill/>
        </p:spPr>
        <p:txBody>
          <a:bodyPr wrap="square">
            <a:normAutofit/>
          </a:bodyPr>
          <a:lstStyle/>
          <a:p>
            <a:r>
              <a:rPr sz="1500" b="0">
                <a:solidFill>
                  <a:srgbClr val="232B38"/>
                </a:solidFill>
                <a:latin typeface="Segoe UI"/>
              </a:rPr>
              <a:t>Abre la conversacion de storage mode y Direct Lake cuando el modelo consume datos de Fabric.</a:t>
            </a:r>
          </a:p>
        </p:txBody>
      </p:sp>
      <p:sp>
        <p:nvSpPr>
          <p:cNvPr id="14" name="Oval 13"/>
          <p:cNvSpPr/>
          <p:nvPr/>
        </p:nvSpPr>
        <p:spPr>
          <a:xfrm>
            <a:off x="758952" y="4151376"/>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096512"/>
            <a:ext cx="10332720" cy="347472"/>
          </a:xfrm>
          <a:prstGeom prst="rect">
            <a:avLst/>
          </a:prstGeom>
          <a:noFill/>
        </p:spPr>
        <p:txBody>
          <a:bodyPr wrap="square">
            <a:normAutofit/>
          </a:bodyPr>
          <a:lstStyle/>
          <a:p>
            <a:r>
              <a:rPr sz="1500" b="0">
                <a:solidFill>
                  <a:srgbClr val="232B38"/>
                </a:solidFill>
                <a:latin typeface="Segoe UI"/>
              </a:rPr>
              <a:t>Conecta con preguntas DP-600 sobre star schema, relaciones, DAX y rendimiento del modelo.</a:t>
            </a:r>
          </a:p>
        </p:txBody>
      </p:sp>
      <p:sp>
        <p:nvSpPr>
          <p:cNvPr id="16" name="TextBox 15"/>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17" name="Rectangle 16"/>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9" name="TextBox 18"/>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70-80 MIN | SEMANTIC MODEL</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Preguntas tipo DP-600 - Semantic</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Relaciones, DAX y consumo Power BI.</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37360"/>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83664"/>
            <a:ext cx="512064" cy="292608"/>
          </a:xfrm>
          <a:prstGeom prst="round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947672"/>
            <a:ext cx="274320" cy="91440"/>
          </a:xfrm>
          <a:prstGeom prst="rect">
            <a:avLst/>
          </a:prstGeom>
          <a:noFill/>
        </p:spPr>
        <p:txBody>
          <a:bodyPr wrap="square">
            <a:normAutofit/>
          </a:bodyPr>
          <a:lstStyle/>
          <a:p>
            <a:pPr algn="ctr"/>
            <a:r>
              <a:rPr sz="750" b="1">
                <a:solidFill>
                  <a:srgbClr val="FFFFFF"/>
                </a:solidFill>
                <a:latin typeface="Segoe UI"/>
              </a:rPr>
              <a:t>Q1</a:t>
            </a:r>
          </a:p>
        </p:txBody>
      </p:sp>
      <p:sp>
        <p:nvSpPr>
          <p:cNvPr id="9" name="TextBox 8"/>
          <p:cNvSpPr txBox="1"/>
          <p:nvPr/>
        </p:nvSpPr>
        <p:spPr>
          <a:xfrm>
            <a:off x="1572768" y="1856231"/>
            <a:ext cx="9802368" cy="256032"/>
          </a:xfrm>
          <a:prstGeom prst="rect">
            <a:avLst/>
          </a:prstGeom>
          <a:noFill/>
        </p:spPr>
        <p:txBody>
          <a:bodyPr wrap="square">
            <a:normAutofit/>
          </a:bodyPr>
          <a:lstStyle/>
          <a:p>
            <a:r>
              <a:rPr sz="1080" b="1">
                <a:solidFill>
                  <a:srgbClr val="142640"/>
                </a:solidFill>
                <a:latin typeface="Segoe UI"/>
              </a:rPr>
              <a:t>Que cardinalidad debe tener gold_dim_cliente con gold_fact_ventas?</a:t>
            </a:r>
          </a:p>
        </p:txBody>
      </p:sp>
      <p:sp>
        <p:nvSpPr>
          <p:cNvPr id="10" name="TextBox 9"/>
          <p:cNvSpPr txBox="1"/>
          <p:nvPr/>
        </p:nvSpPr>
        <p:spPr>
          <a:xfrm>
            <a:off x="1572768" y="2212848"/>
            <a:ext cx="9802368" cy="201168"/>
          </a:xfrm>
          <a:prstGeom prst="rect">
            <a:avLst/>
          </a:prstGeom>
          <a:noFill/>
        </p:spPr>
        <p:txBody>
          <a:bodyPr wrap="square">
            <a:normAutofit/>
          </a:bodyPr>
          <a:lstStyle/>
          <a:p>
            <a:r>
              <a:rPr sz="969" b="1">
                <a:solidFill>
                  <a:srgbClr val="232B38"/>
                </a:solidFill>
                <a:latin typeface="Segoe UI"/>
              </a:rPr>
              <a:t>Respuesta: Uno a muchos: gold_dim_cliente[ClienteKey] 1 -&gt; * gold_fact_ventas[ClienteKey].</a:t>
            </a:r>
          </a:p>
        </p:txBody>
      </p:sp>
      <p:sp>
        <p:nvSpPr>
          <p:cNvPr id="11" name="TextBox 10"/>
          <p:cNvSpPr txBox="1"/>
          <p:nvPr/>
        </p:nvSpPr>
        <p:spPr>
          <a:xfrm>
            <a:off x="1572768" y="2487168"/>
            <a:ext cx="9802368" cy="219456"/>
          </a:xfrm>
          <a:prstGeom prst="rect">
            <a:avLst/>
          </a:prstGeom>
          <a:noFill/>
        </p:spPr>
        <p:txBody>
          <a:bodyPr wrap="square">
            <a:normAutofit/>
          </a:bodyPr>
          <a:lstStyle/>
          <a:p>
            <a:r>
              <a:rPr sz="919" b="0">
                <a:solidFill>
                  <a:srgbClr val="55606E"/>
                </a:solidFill>
                <a:latin typeface="Segoe UI"/>
              </a:rPr>
              <a:t>Clave DP-600: Semantic models evalua relaciones correctas dentro de un modelo estrella.</a:t>
            </a:r>
          </a:p>
        </p:txBody>
      </p:sp>
      <p:sp>
        <p:nvSpPr>
          <p:cNvPr id="12" name="Rounded Rectangle 11"/>
          <p:cNvSpPr/>
          <p:nvPr/>
        </p:nvSpPr>
        <p:spPr>
          <a:xfrm>
            <a:off x="658368" y="3044952"/>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3191256"/>
            <a:ext cx="512064" cy="292608"/>
          </a:xfrm>
          <a:prstGeom prst="roundRect">
            <a:avLst/>
          </a:prstGeom>
          <a:solidFill>
            <a:srgbClr val="346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3255264"/>
            <a:ext cx="274320" cy="91440"/>
          </a:xfrm>
          <a:prstGeom prst="rect">
            <a:avLst/>
          </a:prstGeom>
          <a:noFill/>
        </p:spPr>
        <p:txBody>
          <a:bodyPr wrap="square">
            <a:normAutofit/>
          </a:bodyPr>
          <a:lstStyle/>
          <a:p>
            <a:pPr algn="ctr"/>
            <a:r>
              <a:rPr sz="750" b="1">
                <a:solidFill>
                  <a:srgbClr val="FFFFFF"/>
                </a:solidFill>
                <a:latin typeface="Segoe UI"/>
              </a:rPr>
              <a:t>Q2</a:t>
            </a:r>
          </a:p>
        </p:txBody>
      </p:sp>
      <p:sp>
        <p:nvSpPr>
          <p:cNvPr id="15" name="TextBox 14"/>
          <p:cNvSpPr txBox="1"/>
          <p:nvPr/>
        </p:nvSpPr>
        <p:spPr>
          <a:xfrm>
            <a:off x="1572768" y="3163824"/>
            <a:ext cx="9802368" cy="256032"/>
          </a:xfrm>
          <a:prstGeom prst="rect">
            <a:avLst/>
          </a:prstGeom>
          <a:noFill/>
        </p:spPr>
        <p:txBody>
          <a:bodyPr wrap="square">
            <a:normAutofit/>
          </a:bodyPr>
          <a:lstStyle/>
          <a:p>
            <a:r>
              <a:rPr sz="1080" b="1">
                <a:solidFill>
                  <a:srgbClr val="142640"/>
                </a:solidFill>
                <a:latin typeface="Segoe UI"/>
              </a:rPr>
              <a:t>Que direccion de filtro usar como base entre dimensiones y fact?</a:t>
            </a:r>
          </a:p>
        </p:txBody>
      </p:sp>
      <p:sp>
        <p:nvSpPr>
          <p:cNvPr id="16" name="TextBox 15"/>
          <p:cNvSpPr txBox="1"/>
          <p:nvPr/>
        </p:nvSpPr>
        <p:spPr>
          <a:xfrm>
            <a:off x="1572768" y="3520440"/>
            <a:ext cx="9802368" cy="201168"/>
          </a:xfrm>
          <a:prstGeom prst="rect">
            <a:avLst/>
          </a:prstGeom>
          <a:noFill/>
        </p:spPr>
        <p:txBody>
          <a:bodyPr wrap="square">
            <a:normAutofit/>
          </a:bodyPr>
          <a:lstStyle/>
          <a:p>
            <a:r>
              <a:rPr sz="969" b="1">
                <a:solidFill>
                  <a:srgbClr val="232B38"/>
                </a:solidFill>
                <a:latin typeface="Segoe UI"/>
              </a:rPr>
              <a:t>Respuesta: Single, desde la dimension hacia la fact.</a:t>
            </a:r>
          </a:p>
        </p:txBody>
      </p:sp>
      <p:sp>
        <p:nvSpPr>
          <p:cNvPr id="17" name="TextBox 16"/>
          <p:cNvSpPr txBox="1"/>
          <p:nvPr/>
        </p:nvSpPr>
        <p:spPr>
          <a:xfrm>
            <a:off x="1572768" y="3794760"/>
            <a:ext cx="9802368" cy="219456"/>
          </a:xfrm>
          <a:prstGeom prst="rect">
            <a:avLst/>
          </a:prstGeom>
          <a:noFill/>
        </p:spPr>
        <p:txBody>
          <a:bodyPr wrap="square">
            <a:normAutofit/>
          </a:bodyPr>
          <a:lstStyle/>
          <a:p>
            <a:r>
              <a:rPr sz="919" b="0">
                <a:solidFill>
                  <a:srgbClr val="55606E"/>
                </a:solidFill>
                <a:latin typeface="Segoe UI"/>
              </a:rPr>
              <a:t>Clave DP-600: Un filtro simple reduce ambiguedad y ayuda al rendimiento del modelo.</a:t>
            </a:r>
          </a:p>
        </p:txBody>
      </p:sp>
      <p:sp>
        <p:nvSpPr>
          <p:cNvPr id="18" name="Rounded Rectangle 17"/>
          <p:cNvSpPr/>
          <p:nvPr/>
        </p:nvSpPr>
        <p:spPr>
          <a:xfrm>
            <a:off x="658368" y="4352544"/>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4498848"/>
            <a:ext cx="512064" cy="292608"/>
          </a:xfrm>
          <a:prstGeom prst="roundRect">
            <a:avLst/>
          </a:prstGeom>
          <a:solidFill>
            <a:srgbClr val="22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4562856"/>
            <a:ext cx="274320" cy="91440"/>
          </a:xfrm>
          <a:prstGeom prst="rect">
            <a:avLst/>
          </a:prstGeom>
          <a:noFill/>
        </p:spPr>
        <p:txBody>
          <a:bodyPr wrap="square">
            <a:normAutofit/>
          </a:bodyPr>
          <a:lstStyle/>
          <a:p>
            <a:pPr algn="ctr"/>
            <a:r>
              <a:rPr sz="750" b="1">
                <a:solidFill>
                  <a:srgbClr val="FFFFFF"/>
                </a:solidFill>
                <a:latin typeface="Segoe UI"/>
              </a:rPr>
              <a:t>Q3</a:t>
            </a:r>
          </a:p>
        </p:txBody>
      </p:sp>
      <p:sp>
        <p:nvSpPr>
          <p:cNvPr id="21" name="TextBox 20"/>
          <p:cNvSpPr txBox="1"/>
          <p:nvPr/>
        </p:nvSpPr>
        <p:spPr>
          <a:xfrm>
            <a:off x="1572768" y="4471416"/>
            <a:ext cx="9802368" cy="256032"/>
          </a:xfrm>
          <a:prstGeom prst="rect">
            <a:avLst/>
          </a:prstGeom>
          <a:noFill/>
        </p:spPr>
        <p:txBody>
          <a:bodyPr wrap="square">
            <a:normAutofit/>
          </a:bodyPr>
          <a:lstStyle/>
          <a:p>
            <a:r>
              <a:rPr sz="1080" b="1">
                <a:solidFill>
                  <a:srgbClr val="142640"/>
                </a:solidFill>
                <a:latin typeface="Segoe UI"/>
              </a:rPr>
              <a:t>Donde deben vivir los KPIs como Ventas, Margen y Margen %?</a:t>
            </a:r>
          </a:p>
        </p:txBody>
      </p:sp>
      <p:sp>
        <p:nvSpPr>
          <p:cNvPr id="22" name="TextBox 21"/>
          <p:cNvSpPr txBox="1"/>
          <p:nvPr/>
        </p:nvSpPr>
        <p:spPr>
          <a:xfrm>
            <a:off x="1572768" y="4828031"/>
            <a:ext cx="9802368" cy="201168"/>
          </a:xfrm>
          <a:prstGeom prst="rect">
            <a:avLst/>
          </a:prstGeom>
          <a:noFill/>
        </p:spPr>
        <p:txBody>
          <a:bodyPr wrap="square">
            <a:normAutofit/>
          </a:bodyPr>
          <a:lstStyle/>
          <a:p>
            <a:r>
              <a:rPr sz="969" b="1">
                <a:solidFill>
                  <a:srgbClr val="232B38"/>
                </a:solidFill>
                <a:latin typeface="Segoe UI"/>
              </a:rPr>
              <a:t>Respuesta: Como medidas DAX en el modelo semantico.</a:t>
            </a:r>
          </a:p>
        </p:txBody>
      </p:sp>
      <p:sp>
        <p:nvSpPr>
          <p:cNvPr id="23" name="TextBox 22"/>
          <p:cNvSpPr txBox="1"/>
          <p:nvPr/>
        </p:nvSpPr>
        <p:spPr>
          <a:xfrm>
            <a:off x="1572768" y="5102352"/>
            <a:ext cx="9802368" cy="219456"/>
          </a:xfrm>
          <a:prstGeom prst="rect">
            <a:avLst/>
          </a:prstGeom>
          <a:noFill/>
        </p:spPr>
        <p:txBody>
          <a:bodyPr wrap="square">
            <a:normAutofit/>
          </a:bodyPr>
          <a:lstStyle/>
          <a:p>
            <a:r>
              <a:rPr sz="919" b="0">
                <a:solidFill>
                  <a:srgbClr val="55606E"/>
                </a:solidFill>
                <a:latin typeface="Segoe UI"/>
              </a:rPr>
              <a:t>Clave DP-600: DP-600 evalua calculos DAX gobernados, no metricas sueltas por visual.</a:t>
            </a:r>
          </a:p>
        </p:txBody>
      </p:sp>
      <p:sp>
        <p:nvSpPr>
          <p:cNvPr id="24" name="TextBox 23"/>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25" name="Rectangle 24"/>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27" name="TextBox 26"/>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70-80 MIN | SEMANTIC MODEL</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Medidas DAX basicas - codigo 1/1</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Solo 6 medidas para mantener la clase clara.</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85216" y="1737360"/>
            <a:ext cx="11045952" cy="4224528"/>
          </a:xfrm>
          <a:prstGeom prst="roundRect">
            <a:avLst/>
          </a:prstGeom>
          <a:solidFill>
            <a:srgbClr val="111827"/>
          </a:solidFill>
          <a:ln>
            <a:solidFill>
              <a:srgbClr val="485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01952"/>
            <a:ext cx="10652760" cy="3822191"/>
          </a:xfrm>
          <a:prstGeom prst="rect">
            <a:avLst/>
          </a:prstGeom>
          <a:noFill/>
        </p:spPr>
        <p:txBody>
          <a:bodyPr wrap="none">
            <a:normAutofit/>
          </a:bodyPr>
          <a:lstStyle/>
          <a:p>
            <a:r>
              <a:rPr sz="720">
                <a:solidFill>
                  <a:srgbClr val="E7EDF4"/>
                </a:solidFill>
                <a:latin typeface="Consolas"/>
              </a:rPr>
              <a:t>001  Ventas =
002  SUM(gold_fact_ventas[ImporteNeto])
003  
004  Ventas Brutas =
005  SUM(gold_fact_ventas[ImporteBruto])
006  
007  Costo Total =
008  SUM(gold_fact_ventas[CostoTotal])
009  
010  Margen =
011  SUM(gold_fact_ventas[Margen])
012  
013  Margen % =
014  DIVIDE([Margen], [Ventas])
015  
016  Cantidad Vendida =
017  SUM(gold_fact_ventas[Cantidad])</a:t>
            </a:r>
          </a:p>
        </p:txBody>
      </p:sp>
      <p:sp>
        <p:nvSpPr>
          <p:cNvPr id="8" name="TextBox 7"/>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9" name="Rectangle 8"/>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1" name="TextBox 10"/>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80-90 MIN | CIERRE</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Maintain y DP-600</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Esta fase convierte la demo en una solucion administrable.</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883664"/>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332720" cy="347472"/>
          </a:xfrm>
          <a:prstGeom prst="rect">
            <a:avLst/>
          </a:prstGeom>
          <a:noFill/>
        </p:spPr>
        <p:txBody>
          <a:bodyPr wrap="square">
            <a:normAutofit/>
          </a:bodyPr>
          <a:lstStyle/>
          <a:p>
            <a:r>
              <a:rPr sz="1500" b="0">
                <a:solidFill>
                  <a:srgbClr val="232B38"/>
                </a:solidFill>
                <a:latin typeface="Segoe UI"/>
              </a:rPr>
              <a:t>RLS por Region entrena controles de acceso a nivel de fila.</a:t>
            </a:r>
          </a:p>
        </p:txBody>
      </p:sp>
      <p:sp>
        <p:nvSpPr>
          <p:cNvPr id="8" name="Oval 7"/>
          <p:cNvSpPr/>
          <p:nvPr/>
        </p:nvSpPr>
        <p:spPr>
          <a:xfrm>
            <a:off x="758952" y="2450592"/>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95728"/>
            <a:ext cx="10332720" cy="347472"/>
          </a:xfrm>
          <a:prstGeom prst="rect">
            <a:avLst/>
          </a:prstGeom>
          <a:noFill/>
        </p:spPr>
        <p:txBody>
          <a:bodyPr wrap="square">
            <a:normAutofit/>
          </a:bodyPr>
          <a:lstStyle/>
          <a:p>
            <a:r>
              <a:rPr sz="1500" b="0">
                <a:solidFill>
                  <a:srgbClr val="232B38"/>
                </a:solidFill>
                <a:latin typeface="Segoe UI"/>
              </a:rPr>
              <a:t>Lineage permite ver dependencias desde Lakehouse/Warehouse hasta semantic model y reporte.</a:t>
            </a:r>
          </a:p>
        </p:txBody>
      </p:sp>
      <p:sp>
        <p:nvSpPr>
          <p:cNvPr id="10" name="Oval 9"/>
          <p:cNvSpPr/>
          <p:nvPr/>
        </p:nvSpPr>
        <p:spPr>
          <a:xfrm>
            <a:off x="758952" y="3017520"/>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62656"/>
            <a:ext cx="10332720" cy="347472"/>
          </a:xfrm>
          <a:prstGeom prst="rect">
            <a:avLst/>
          </a:prstGeom>
          <a:noFill/>
        </p:spPr>
        <p:txBody>
          <a:bodyPr wrap="square">
            <a:normAutofit/>
          </a:bodyPr>
          <a:lstStyle/>
          <a:p>
            <a:r>
              <a:rPr sz="1500" b="0">
                <a:solidFill>
                  <a:srgbClr val="232B38"/>
                </a:solidFill>
                <a:latin typeface="Segoe UI"/>
              </a:rPr>
              <a:t>Impact analysis ayuda a decidir si un cambio rompe contenido aguas abajo.</a:t>
            </a:r>
          </a:p>
        </p:txBody>
      </p:sp>
      <p:sp>
        <p:nvSpPr>
          <p:cNvPr id="12" name="Oval 11"/>
          <p:cNvSpPr/>
          <p:nvPr/>
        </p:nvSpPr>
        <p:spPr>
          <a:xfrm>
            <a:off x="758952" y="3584448"/>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29584"/>
            <a:ext cx="10332720" cy="347472"/>
          </a:xfrm>
          <a:prstGeom prst="rect">
            <a:avLst/>
          </a:prstGeom>
          <a:noFill/>
        </p:spPr>
        <p:txBody>
          <a:bodyPr wrap="square">
            <a:normAutofit/>
          </a:bodyPr>
          <a:lstStyle/>
          <a:p>
            <a:r>
              <a:rPr sz="1500" b="0">
                <a:solidFill>
                  <a:srgbClr val="232B38"/>
                </a:solidFill>
                <a:latin typeface="Segoe UI"/>
              </a:rPr>
              <a:t>Deployment pipelines explican el paso Dev-Test-Prod.</a:t>
            </a:r>
          </a:p>
        </p:txBody>
      </p:sp>
      <p:sp>
        <p:nvSpPr>
          <p:cNvPr id="14" name="Oval 13"/>
          <p:cNvSpPr/>
          <p:nvPr/>
        </p:nvSpPr>
        <p:spPr>
          <a:xfrm>
            <a:off x="758952" y="4151376"/>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096512"/>
            <a:ext cx="10332720" cy="347472"/>
          </a:xfrm>
          <a:prstGeom prst="rect">
            <a:avLst/>
          </a:prstGeom>
          <a:noFill/>
        </p:spPr>
        <p:txBody>
          <a:bodyPr wrap="square">
            <a:normAutofit/>
          </a:bodyPr>
          <a:lstStyle/>
          <a:p>
            <a:r>
              <a:rPr sz="1500" b="0">
                <a:solidFill>
                  <a:srgbClr val="232B38"/>
                </a:solidFill>
                <a:latin typeface="Segoe UI"/>
              </a:rPr>
              <a:t>Conecta con el dominio Maintain: seguridad, gobierno, endorsement, etiquetas, impacto y lifecycle.</a:t>
            </a:r>
          </a:p>
        </p:txBody>
      </p:sp>
      <p:sp>
        <p:nvSpPr>
          <p:cNvPr id="16" name="TextBox 15"/>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17" name="Rectangle 16"/>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9" name="TextBox 18"/>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80-90 MIN | CIERRE</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Preguntas tipo DP-600 - Maintain</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Seguridad, gobierno, lineage, impact analysis y despliegue.</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37360"/>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883664"/>
            <a:ext cx="512064" cy="292608"/>
          </a:xfrm>
          <a:prstGeom prst="round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947672"/>
            <a:ext cx="274320" cy="91440"/>
          </a:xfrm>
          <a:prstGeom prst="rect">
            <a:avLst/>
          </a:prstGeom>
          <a:noFill/>
        </p:spPr>
        <p:txBody>
          <a:bodyPr wrap="square">
            <a:normAutofit/>
          </a:bodyPr>
          <a:lstStyle/>
          <a:p>
            <a:pPr algn="ctr"/>
            <a:r>
              <a:rPr sz="750" b="1">
                <a:solidFill>
                  <a:srgbClr val="FFFFFF"/>
                </a:solidFill>
                <a:latin typeface="Segoe UI"/>
              </a:rPr>
              <a:t>Q1</a:t>
            </a:r>
          </a:p>
        </p:txBody>
      </p:sp>
      <p:sp>
        <p:nvSpPr>
          <p:cNvPr id="9" name="TextBox 8"/>
          <p:cNvSpPr txBox="1"/>
          <p:nvPr/>
        </p:nvSpPr>
        <p:spPr>
          <a:xfrm>
            <a:off x="1572768" y="1856231"/>
            <a:ext cx="9802368" cy="256032"/>
          </a:xfrm>
          <a:prstGeom prst="rect">
            <a:avLst/>
          </a:prstGeom>
          <a:noFill/>
        </p:spPr>
        <p:txBody>
          <a:bodyPr wrap="square">
            <a:normAutofit/>
          </a:bodyPr>
          <a:lstStyle/>
          <a:p>
            <a:r>
              <a:rPr sz="1080" b="1">
                <a:solidFill>
                  <a:srgbClr val="142640"/>
                </a:solidFill>
                <a:latin typeface="Segoe UI"/>
              </a:rPr>
              <a:t>Cada responsable regional debe ver solo su region. Que control aplicas?</a:t>
            </a:r>
          </a:p>
        </p:txBody>
      </p:sp>
      <p:sp>
        <p:nvSpPr>
          <p:cNvPr id="10" name="TextBox 9"/>
          <p:cNvSpPr txBox="1"/>
          <p:nvPr/>
        </p:nvSpPr>
        <p:spPr>
          <a:xfrm>
            <a:off x="1572768" y="2212848"/>
            <a:ext cx="9802368" cy="201168"/>
          </a:xfrm>
          <a:prstGeom prst="rect">
            <a:avLst/>
          </a:prstGeom>
          <a:noFill/>
        </p:spPr>
        <p:txBody>
          <a:bodyPr wrap="square">
            <a:normAutofit/>
          </a:bodyPr>
          <a:lstStyle/>
          <a:p>
            <a:r>
              <a:rPr sz="969" b="1">
                <a:solidFill>
                  <a:srgbClr val="232B38"/>
                </a:solidFill>
                <a:latin typeface="Segoe UI"/>
              </a:rPr>
              <a:t>Respuesta: RLS usando gold_dim_region[ResponsableRegionEmail].</a:t>
            </a:r>
          </a:p>
        </p:txBody>
      </p:sp>
      <p:sp>
        <p:nvSpPr>
          <p:cNvPr id="11" name="TextBox 10"/>
          <p:cNvSpPr txBox="1"/>
          <p:nvPr/>
        </p:nvSpPr>
        <p:spPr>
          <a:xfrm>
            <a:off x="1572768" y="2487168"/>
            <a:ext cx="9802368" cy="219456"/>
          </a:xfrm>
          <a:prstGeom prst="rect">
            <a:avLst/>
          </a:prstGeom>
          <a:noFill/>
        </p:spPr>
        <p:txBody>
          <a:bodyPr wrap="square">
            <a:normAutofit/>
          </a:bodyPr>
          <a:lstStyle/>
          <a:p>
            <a:r>
              <a:rPr sz="919" b="0">
                <a:solidFill>
                  <a:srgbClr val="55606E"/>
                </a:solidFill>
                <a:latin typeface="Segoe UI"/>
              </a:rPr>
              <a:t>Clave DP-600: Maintain evalua row-level security y controles de acceso.</a:t>
            </a:r>
          </a:p>
        </p:txBody>
      </p:sp>
      <p:sp>
        <p:nvSpPr>
          <p:cNvPr id="12" name="Rounded Rectangle 11"/>
          <p:cNvSpPr/>
          <p:nvPr/>
        </p:nvSpPr>
        <p:spPr>
          <a:xfrm>
            <a:off x="658368" y="3044952"/>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3191256"/>
            <a:ext cx="512064" cy="292608"/>
          </a:xfrm>
          <a:prstGeom prst="roundRect">
            <a:avLst/>
          </a:prstGeom>
          <a:solidFill>
            <a:srgbClr val="346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3255264"/>
            <a:ext cx="274320" cy="91440"/>
          </a:xfrm>
          <a:prstGeom prst="rect">
            <a:avLst/>
          </a:prstGeom>
          <a:noFill/>
        </p:spPr>
        <p:txBody>
          <a:bodyPr wrap="square">
            <a:normAutofit/>
          </a:bodyPr>
          <a:lstStyle/>
          <a:p>
            <a:pPr algn="ctr"/>
            <a:r>
              <a:rPr sz="750" b="1">
                <a:solidFill>
                  <a:srgbClr val="FFFFFF"/>
                </a:solidFill>
                <a:latin typeface="Segoe UI"/>
              </a:rPr>
              <a:t>Q2</a:t>
            </a:r>
          </a:p>
        </p:txBody>
      </p:sp>
      <p:sp>
        <p:nvSpPr>
          <p:cNvPr id="15" name="TextBox 14"/>
          <p:cNvSpPr txBox="1"/>
          <p:nvPr/>
        </p:nvSpPr>
        <p:spPr>
          <a:xfrm>
            <a:off x="1572768" y="3163824"/>
            <a:ext cx="9802368" cy="256032"/>
          </a:xfrm>
          <a:prstGeom prst="rect">
            <a:avLst/>
          </a:prstGeom>
          <a:noFill/>
        </p:spPr>
        <p:txBody>
          <a:bodyPr wrap="square">
            <a:normAutofit/>
          </a:bodyPr>
          <a:lstStyle/>
          <a:p>
            <a:r>
              <a:rPr sz="1080" b="1">
                <a:solidFill>
                  <a:srgbClr val="142640"/>
                </a:solidFill>
                <a:latin typeface="Segoe UI"/>
              </a:rPr>
              <a:t>Antes de cambiar gold_fact_ventas, que revisas para no romper reportes?</a:t>
            </a:r>
          </a:p>
        </p:txBody>
      </p:sp>
      <p:sp>
        <p:nvSpPr>
          <p:cNvPr id="16" name="TextBox 15"/>
          <p:cNvSpPr txBox="1"/>
          <p:nvPr/>
        </p:nvSpPr>
        <p:spPr>
          <a:xfrm>
            <a:off x="1572768" y="3520440"/>
            <a:ext cx="9802368" cy="201168"/>
          </a:xfrm>
          <a:prstGeom prst="rect">
            <a:avLst/>
          </a:prstGeom>
          <a:noFill/>
        </p:spPr>
        <p:txBody>
          <a:bodyPr wrap="square">
            <a:normAutofit/>
          </a:bodyPr>
          <a:lstStyle/>
          <a:p>
            <a:r>
              <a:rPr sz="969" b="1">
                <a:solidFill>
                  <a:srgbClr val="232B38"/>
                </a:solidFill>
                <a:latin typeface="Segoe UI"/>
              </a:rPr>
              <a:t>Respuesta: Lineage e impact analysis.</a:t>
            </a:r>
          </a:p>
        </p:txBody>
      </p:sp>
      <p:sp>
        <p:nvSpPr>
          <p:cNvPr id="17" name="TextBox 16"/>
          <p:cNvSpPr txBox="1"/>
          <p:nvPr/>
        </p:nvSpPr>
        <p:spPr>
          <a:xfrm>
            <a:off x="1572768" y="3794760"/>
            <a:ext cx="9802368" cy="219456"/>
          </a:xfrm>
          <a:prstGeom prst="rect">
            <a:avLst/>
          </a:prstGeom>
          <a:noFill/>
        </p:spPr>
        <p:txBody>
          <a:bodyPr wrap="square">
            <a:normAutofit/>
          </a:bodyPr>
          <a:lstStyle/>
          <a:p>
            <a:r>
              <a:rPr sz="919" b="0">
                <a:solidFill>
                  <a:srgbClr val="55606E"/>
                </a:solidFill>
                <a:latin typeface="Segoe UI"/>
              </a:rPr>
              <a:t>Clave DP-600: DP-600 mide analisis de dependencias aguas abajo.</a:t>
            </a:r>
          </a:p>
        </p:txBody>
      </p:sp>
      <p:sp>
        <p:nvSpPr>
          <p:cNvPr id="18" name="Rounded Rectangle 17"/>
          <p:cNvSpPr/>
          <p:nvPr/>
        </p:nvSpPr>
        <p:spPr>
          <a:xfrm>
            <a:off x="658368" y="4352544"/>
            <a:ext cx="11009376" cy="1152144"/>
          </a:xfrm>
          <a:prstGeom prst="roundRect">
            <a:avLst/>
          </a:prstGeom>
          <a:solidFill>
            <a:srgbClr val="F8FCFD"/>
          </a:solidFill>
          <a:ln>
            <a:solidFill>
              <a:srgbClr val="C6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4498848"/>
            <a:ext cx="512064" cy="292608"/>
          </a:xfrm>
          <a:prstGeom prst="roundRect">
            <a:avLst/>
          </a:prstGeom>
          <a:solidFill>
            <a:srgbClr val="22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4562856"/>
            <a:ext cx="274320" cy="91440"/>
          </a:xfrm>
          <a:prstGeom prst="rect">
            <a:avLst/>
          </a:prstGeom>
          <a:noFill/>
        </p:spPr>
        <p:txBody>
          <a:bodyPr wrap="square">
            <a:normAutofit/>
          </a:bodyPr>
          <a:lstStyle/>
          <a:p>
            <a:pPr algn="ctr"/>
            <a:r>
              <a:rPr sz="750" b="1">
                <a:solidFill>
                  <a:srgbClr val="FFFFFF"/>
                </a:solidFill>
                <a:latin typeface="Segoe UI"/>
              </a:rPr>
              <a:t>Q3</a:t>
            </a:r>
          </a:p>
        </p:txBody>
      </p:sp>
      <p:sp>
        <p:nvSpPr>
          <p:cNvPr id="21" name="TextBox 20"/>
          <p:cNvSpPr txBox="1"/>
          <p:nvPr/>
        </p:nvSpPr>
        <p:spPr>
          <a:xfrm>
            <a:off x="1572768" y="4471416"/>
            <a:ext cx="9802368" cy="256032"/>
          </a:xfrm>
          <a:prstGeom prst="rect">
            <a:avLst/>
          </a:prstGeom>
          <a:noFill/>
        </p:spPr>
        <p:txBody>
          <a:bodyPr wrap="square">
            <a:normAutofit/>
          </a:bodyPr>
          <a:lstStyle/>
          <a:p>
            <a:r>
              <a:rPr sz="1080" b="1">
                <a:solidFill>
                  <a:srgbClr val="142640"/>
                </a:solidFill>
                <a:latin typeface="Segoe UI"/>
              </a:rPr>
              <a:t>Como mueves la solucion de desarrollo a validacion y produccion?</a:t>
            </a:r>
          </a:p>
        </p:txBody>
      </p:sp>
      <p:sp>
        <p:nvSpPr>
          <p:cNvPr id="22" name="TextBox 21"/>
          <p:cNvSpPr txBox="1"/>
          <p:nvPr/>
        </p:nvSpPr>
        <p:spPr>
          <a:xfrm>
            <a:off x="1572768" y="4828031"/>
            <a:ext cx="9802368" cy="201168"/>
          </a:xfrm>
          <a:prstGeom prst="rect">
            <a:avLst/>
          </a:prstGeom>
          <a:noFill/>
        </p:spPr>
        <p:txBody>
          <a:bodyPr wrap="square">
            <a:normAutofit/>
          </a:bodyPr>
          <a:lstStyle/>
          <a:p>
            <a:r>
              <a:rPr sz="969" b="1">
                <a:solidFill>
                  <a:srgbClr val="232B38"/>
                </a:solidFill>
                <a:latin typeface="Segoe UI"/>
              </a:rPr>
              <a:t>Respuesta: Con deployment pipelines Dev-Test-Prod.</a:t>
            </a:r>
          </a:p>
        </p:txBody>
      </p:sp>
      <p:sp>
        <p:nvSpPr>
          <p:cNvPr id="23" name="TextBox 22"/>
          <p:cNvSpPr txBox="1"/>
          <p:nvPr/>
        </p:nvSpPr>
        <p:spPr>
          <a:xfrm>
            <a:off x="1572768" y="5102352"/>
            <a:ext cx="9802368" cy="219456"/>
          </a:xfrm>
          <a:prstGeom prst="rect">
            <a:avLst/>
          </a:prstGeom>
          <a:noFill/>
        </p:spPr>
        <p:txBody>
          <a:bodyPr wrap="square">
            <a:normAutofit/>
          </a:bodyPr>
          <a:lstStyle/>
          <a:p>
            <a:r>
              <a:rPr sz="919" b="0">
                <a:solidFill>
                  <a:srgbClr val="55606E"/>
                </a:solidFill>
                <a:latin typeface="Segoe UI"/>
              </a:rPr>
              <a:t>Clave DP-600: Maintain cubre lifecycle, deployment y administracion de soluciones analiticas.</a:t>
            </a:r>
          </a:p>
        </p:txBody>
      </p:sp>
      <p:sp>
        <p:nvSpPr>
          <p:cNvPr id="24" name="TextBox 23"/>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25" name="Rectangle 24"/>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27" name="TextBox 26"/>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5216" y="256032"/>
            <a:ext cx="5577840" cy="228600"/>
          </a:xfrm>
          <a:prstGeom prst="rect">
            <a:avLst/>
          </a:prstGeom>
          <a:noFill/>
        </p:spPr>
        <p:txBody>
          <a:bodyPr wrap="square">
            <a:normAutofit/>
          </a:bodyPr>
          <a:lstStyle/>
          <a:p>
            <a:r>
              <a:rPr sz="850" b="1">
                <a:solidFill>
                  <a:srgbClr val="00788C"/>
                </a:solidFill>
                <a:latin typeface="Segoe UI"/>
              </a:rPr>
              <a:t>80-90 MIN | CIERRE</a:t>
            </a:r>
          </a:p>
        </p:txBody>
      </p:sp>
      <p:sp>
        <p:nvSpPr>
          <p:cNvPr id="3" name="TextBox 2"/>
          <p:cNvSpPr txBox="1"/>
          <p:nvPr/>
        </p:nvSpPr>
        <p:spPr>
          <a:xfrm>
            <a:off x="585216" y="576072"/>
            <a:ext cx="7818120" cy="530352"/>
          </a:xfrm>
          <a:prstGeom prst="rect">
            <a:avLst/>
          </a:prstGeom>
          <a:noFill/>
        </p:spPr>
        <p:txBody>
          <a:bodyPr wrap="square">
            <a:normAutofit/>
          </a:bodyPr>
          <a:lstStyle/>
          <a:p>
            <a:r>
              <a:rPr sz="2400" b="1">
                <a:solidFill>
                  <a:srgbClr val="142640"/>
                </a:solidFill>
                <a:latin typeface="Segoe UI"/>
              </a:rPr>
              <a:t>Checklist final DP-600</a:t>
            </a:r>
          </a:p>
        </p:txBody>
      </p:sp>
      <p:sp>
        <p:nvSpPr>
          <p:cNvPr id="4" name="TextBox 3"/>
          <p:cNvSpPr txBox="1"/>
          <p:nvPr/>
        </p:nvSpPr>
        <p:spPr>
          <a:xfrm>
            <a:off x="585216" y="1106424"/>
            <a:ext cx="9692640" cy="292608"/>
          </a:xfrm>
          <a:prstGeom prst="rect">
            <a:avLst/>
          </a:prstGeom>
          <a:noFill/>
        </p:spPr>
        <p:txBody>
          <a:bodyPr wrap="square">
            <a:normAutofit/>
          </a:bodyPr>
          <a:lstStyle/>
          <a:p>
            <a:r>
              <a:rPr sz="1050" b="0">
                <a:solidFill>
                  <a:srgbClr val="55606E"/>
                </a:solidFill>
                <a:latin typeface="Segoe UI"/>
              </a:rPr>
              <a:t>La solucion queda explicable y defendible.</a:t>
            </a:r>
          </a:p>
        </p:txBody>
      </p:sp>
      <p:sp>
        <p:nvSpPr>
          <p:cNvPr id="5" name="Rectangle 4"/>
          <p:cNvSpPr/>
          <p:nvPr/>
        </p:nvSpPr>
        <p:spPr>
          <a:xfrm>
            <a:off x="585216" y="1481328"/>
            <a:ext cx="11045952" cy="274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883664"/>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332720" cy="347472"/>
          </a:xfrm>
          <a:prstGeom prst="rect">
            <a:avLst/>
          </a:prstGeom>
          <a:noFill/>
        </p:spPr>
        <p:txBody>
          <a:bodyPr wrap="square">
            <a:normAutofit/>
          </a:bodyPr>
          <a:lstStyle/>
          <a:p>
            <a:r>
              <a:rPr sz="1500" b="0">
                <a:solidFill>
                  <a:srgbClr val="232B38"/>
                </a:solidFill>
                <a:latin typeface="Segoe UI"/>
              </a:rPr>
              <a:t>Bronze creado desde CSV con notebook.</a:t>
            </a:r>
          </a:p>
        </p:txBody>
      </p:sp>
      <p:sp>
        <p:nvSpPr>
          <p:cNvPr id="8" name="Oval 7"/>
          <p:cNvSpPr/>
          <p:nvPr/>
        </p:nvSpPr>
        <p:spPr>
          <a:xfrm>
            <a:off x="758952" y="2450592"/>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95728"/>
            <a:ext cx="10332720" cy="347472"/>
          </a:xfrm>
          <a:prstGeom prst="rect">
            <a:avLst/>
          </a:prstGeom>
          <a:noFill/>
        </p:spPr>
        <p:txBody>
          <a:bodyPr wrap="square">
            <a:normAutofit/>
          </a:bodyPr>
          <a:lstStyle/>
          <a:p>
            <a:r>
              <a:rPr sz="1500" b="0">
                <a:solidFill>
                  <a:srgbClr val="232B38"/>
                </a:solidFill>
                <a:latin typeface="Segoe UI"/>
              </a:rPr>
              <a:t>Silver limpio creado en LK_plata sin modelar dimensiones.</a:t>
            </a:r>
          </a:p>
        </p:txBody>
      </p:sp>
      <p:sp>
        <p:nvSpPr>
          <p:cNvPr id="10" name="Oval 9"/>
          <p:cNvSpPr/>
          <p:nvPr/>
        </p:nvSpPr>
        <p:spPr>
          <a:xfrm>
            <a:off x="758952" y="3017520"/>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62656"/>
            <a:ext cx="10332720" cy="347472"/>
          </a:xfrm>
          <a:prstGeom prst="rect">
            <a:avLst/>
          </a:prstGeom>
          <a:noFill/>
        </p:spPr>
        <p:txBody>
          <a:bodyPr wrap="square">
            <a:normAutofit/>
          </a:bodyPr>
          <a:lstStyle/>
          <a:p>
            <a:r>
              <a:rPr sz="1500" b="0">
                <a:solidFill>
                  <a:srgbClr val="232B38"/>
                </a:solidFill>
                <a:latin typeface="Segoe UI"/>
              </a:rPr>
              <a:t>Gold crea dimensiones y fact en Warehouse.</a:t>
            </a:r>
          </a:p>
        </p:txBody>
      </p:sp>
      <p:sp>
        <p:nvSpPr>
          <p:cNvPr id="12" name="Oval 11"/>
          <p:cNvSpPr/>
          <p:nvPr/>
        </p:nvSpPr>
        <p:spPr>
          <a:xfrm>
            <a:off x="758952" y="3584448"/>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29584"/>
            <a:ext cx="10332720" cy="347472"/>
          </a:xfrm>
          <a:prstGeom prst="rect">
            <a:avLst/>
          </a:prstGeom>
          <a:noFill/>
        </p:spPr>
        <p:txBody>
          <a:bodyPr wrap="square">
            <a:normAutofit/>
          </a:bodyPr>
          <a:lstStyle/>
          <a:p>
            <a:r>
              <a:rPr sz="1500" b="0">
                <a:solidFill>
                  <a:srgbClr val="232B38"/>
                </a:solidFill>
                <a:latin typeface="Segoe UI"/>
              </a:rPr>
              <a:t>Modelo semantico tiene relaciones 1:* y direccion Single.</a:t>
            </a:r>
          </a:p>
        </p:txBody>
      </p:sp>
      <p:sp>
        <p:nvSpPr>
          <p:cNvPr id="14" name="Oval 13"/>
          <p:cNvSpPr/>
          <p:nvPr/>
        </p:nvSpPr>
        <p:spPr>
          <a:xfrm>
            <a:off x="758952" y="4151376"/>
            <a:ext cx="91440" cy="91440"/>
          </a:xfrm>
          <a:prstGeom prst="ellipse">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096512"/>
            <a:ext cx="10332720" cy="347472"/>
          </a:xfrm>
          <a:prstGeom prst="rect">
            <a:avLst/>
          </a:prstGeom>
          <a:noFill/>
        </p:spPr>
        <p:txBody>
          <a:bodyPr wrap="square">
            <a:normAutofit/>
          </a:bodyPr>
          <a:lstStyle/>
          <a:p>
            <a:r>
              <a:rPr sz="1500" b="0">
                <a:solidFill>
                  <a:srgbClr val="232B38"/>
                </a:solidFill>
                <a:latin typeface="Segoe UI"/>
              </a:rPr>
              <a:t>Reporte usa las 6 medidas DAX y puede cerrarse con RLS por Region.</a:t>
            </a:r>
          </a:p>
        </p:txBody>
      </p:sp>
      <p:sp>
        <p:nvSpPr>
          <p:cNvPr id="16" name="TextBox 15"/>
          <p:cNvSpPr txBox="1"/>
          <p:nvPr/>
        </p:nvSpPr>
        <p:spPr>
          <a:xfrm>
            <a:off x="694944" y="5989320"/>
            <a:ext cx="2011680" cy="182880"/>
          </a:xfrm>
          <a:prstGeom prst="rect">
            <a:avLst/>
          </a:prstGeom>
          <a:noFill/>
        </p:spPr>
        <p:txBody>
          <a:bodyPr wrap="square">
            <a:normAutofit/>
          </a:bodyPr>
          <a:lstStyle/>
          <a:p>
            <a:r>
              <a:rPr sz="850" b="1">
                <a:solidFill>
                  <a:srgbClr val="3467B8"/>
                </a:solidFill>
                <a:latin typeface="Segoe UI"/>
                <a:hlinkClick r:id="rId2"/>
              </a:rPr>
              <a:t>Microsoft Learn</a:t>
            </a:r>
          </a:p>
        </p:txBody>
      </p:sp>
      <p:sp>
        <p:nvSpPr>
          <p:cNvPr id="17" name="Rectangle 16"/>
          <p:cNvSpPr/>
          <p:nvPr/>
        </p:nvSpPr>
        <p:spPr>
          <a:xfrm>
            <a:off x="530352" y="6291072"/>
            <a:ext cx="11128248" cy="402336"/>
          </a:xfrm>
          <a:prstGeom prst="rect">
            <a:avLst/>
          </a:prstGeom>
          <a:solidFill>
            <a:srgbClr val="E8F7FA"/>
          </a:solidFill>
          <a:ln>
            <a:solidFill>
              <a:srgbClr val="C0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6419088"/>
            <a:ext cx="6675120" cy="146304"/>
          </a:xfrm>
          <a:prstGeom prst="rect">
            <a:avLst/>
          </a:prstGeom>
          <a:noFill/>
        </p:spPr>
        <p:txBody>
          <a:bodyPr wrap="square">
            <a:normAutofit/>
          </a:bodyPr>
          <a:lstStyle/>
          <a:p>
            <a:r>
              <a:rPr sz="750" b="1">
                <a:solidFill>
                  <a:srgbClr val="142640"/>
                </a:solidFill>
                <a:latin typeface="Segoe UI"/>
              </a:rPr>
              <a:t>Data Days DP-600 | Sesion 7 | Caso final</a:t>
            </a:r>
          </a:p>
        </p:txBody>
      </p:sp>
      <p:sp>
        <p:nvSpPr>
          <p:cNvPr id="19" name="TextBox 18"/>
          <p:cNvSpPr txBox="1"/>
          <p:nvPr/>
        </p:nvSpPr>
        <p:spPr>
          <a:xfrm>
            <a:off x="11137392" y="6419088"/>
            <a:ext cx="320040" cy="146304"/>
          </a:xfrm>
          <a:prstGeom prst="rect">
            <a:avLst/>
          </a:prstGeom>
          <a:noFill/>
        </p:spPr>
        <p:txBody>
          <a:bodyPr wrap="square">
            <a:normAutofit/>
          </a:bodyPr>
          <a:lstStyle/>
          <a:p>
            <a:pPr algn="r"/>
            <a:r>
              <a:rPr sz="750" b="1">
                <a:solidFill>
                  <a:srgbClr val="142640"/>
                </a:solidFill>
                <a:latin typeface="Segoe UI"/>
              </a:rPr>
              <a:t>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Days DP-600 - Sesion 7 - Caso Final Pasos y Codigo Completo</dc:title>
  <dc:subject>CSV, notebooks Bronze/Silver, SQL Gold, modelo dimensional y DAX</dc:subject>
  <dc:creator>Vicente Antonio Juan Magallanes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