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92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96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19659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178C8C"/>
                </a:solidFill>
              </a:rPr>
              <a:t>MODEL CONTEXT PROTOCOL · POWER BI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Power BI Modeling MCP Server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6E8"/>
                </a:solidFill>
              </a:rPr>
              <a:t>El servidor MCP local para modelado semántico con IA</a:t>
            </a:r>
            <a:endParaRPr lang="en-US" sz="1800" dirty="0"/>
          </a:p>
        </p:txBody>
      </p:sp>
      <p:pic>
        <p:nvPicPr>
          <p:cNvPr id="6" name="Image 0" descr="/home/claude/pbi-mcp-ppt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8" y="4114800"/>
            <a:ext cx="731520" cy="731520"/>
          </a:xfrm>
          <a:prstGeom prst="rect">
            <a:avLst/>
          </a:prstGeom>
        </p:spPr>
      </p:pic>
      <p:pic>
        <p:nvPicPr>
          <p:cNvPr id="7" name="Image 1" descr="/home/claude/pbi-mcp-ppt/icons/arrowright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4343400"/>
            <a:ext cx="1005840" cy="274320"/>
          </a:xfrm>
          <a:prstGeom prst="rect">
            <a:avLst/>
          </a:prstGeom>
        </p:spPr>
      </p:pic>
      <p:pic>
        <p:nvPicPr>
          <p:cNvPr id="8" name="Image 2" descr="/home/claude/pbi-mcp-ppt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368" y="4114800"/>
            <a:ext cx="731520" cy="731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6263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BA5"/>
                </a:solidFill>
              </a:rPr>
              <a:t>Basado en la documentación oficial de Microsoft (github.com/microsoft/powerbi-modeling-mcp)</a:t>
            </a:r>
            <a:endParaRPr lang="en-US" sz="10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AA734A9-1E3C-0A36-0B69-B6EFA7F4F0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19659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178C8C"/>
                </a:solidFill>
              </a:rPr>
              <a:t>MODEL CONTEXT PROTOCOL · POWER BI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Power BI Modeling MCP Server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6E8"/>
                </a:solidFill>
              </a:rPr>
              <a:t>El servidor MCP local para modelado semántico con IA</a:t>
            </a:r>
            <a:endParaRPr lang="en-US" sz="1800" dirty="0"/>
          </a:p>
        </p:txBody>
      </p:sp>
      <p:pic>
        <p:nvPicPr>
          <p:cNvPr id="6" name="Image 0" descr="/home/claude/pbi-mcp-ppt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8" y="4114800"/>
            <a:ext cx="731520" cy="731520"/>
          </a:xfrm>
          <a:prstGeom prst="rect">
            <a:avLst/>
          </a:prstGeom>
        </p:spPr>
      </p:pic>
      <p:pic>
        <p:nvPicPr>
          <p:cNvPr id="7" name="Image 1" descr="/home/claude/pbi-mcp-ppt/icons/arrowright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4343400"/>
            <a:ext cx="1005840" cy="274320"/>
          </a:xfrm>
          <a:prstGeom prst="rect">
            <a:avLst/>
          </a:prstGeom>
        </p:spPr>
      </p:pic>
      <p:pic>
        <p:nvPicPr>
          <p:cNvPr id="8" name="Image 2" descr="/home/claude/pbi-mcp-ppt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368" y="4114800"/>
            <a:ext cx="731520" cy="731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6263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BA5"/>
                </a:solidFill>
              </a:rPr>
              <a:t>Basado en la documentación oficial de Microsoft (github.com/microsoft/powerbi-modeling-mcp)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9969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CONCEPTO BASE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</a:rPr>
              <a:t>¿Qué es el Model Context Protocol?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617720" y="21031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412480" y="21031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/home/claude/pbi-mcp-ppt/icons/cod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423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90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Host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</a:rPr>
              <a:t>La aplicación donde ocurre la interacción (ej. VS Code)</a:t>
            </a:r>
            <a:endParaRPr lang="en-US" sz="1050" dirty="0"/>
          </a:p>
        </p:txBody>
      </p:sp>
      <p:pic>
        <p:nvPicPr>
          <p:cNvPr id="10" name="Image 1" descr="/home/claude/pbi-mcp-ppt/icons/robo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990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Cliente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1772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</a:rPr>
              <a:t>Componente que se conecta al servidor MCP (ej. Copilot, Codex)</a:t>
            </a:r>
            <a:endParaRPr lang="en-US" sz="1050" dirty="0"/>
          </a:p>
        </p:txBody>
      </p:sp>
      <p:pic>
        <p:nvPicPr>
          <p:cNvPr id="13" name="Image 2" descr="/home/claude/pbi-mcp-ppt/icons/serv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4231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0" y="2990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Servidor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41248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</a:rPr>
              <a:t>Expone herramientas, recursos y prompts al cliente</a:t>
            </a:r>
            <a:endParaRPr lang="en-US" sz="1050" dirty="0"/>
          </a:p>
        </p:txBody>
      </p:sp>
      <p:pic>
        <p:nvPicPr>
          <p:cNvPr id="16" name="Image 3" descr="/home/claude/pbi-mcp-ppt/icons/arrow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2880360"/>
            <a:ext cx="630936" cy="274320"/>
          </a:xfrm>
          <a:prstGeom prst="rect">
            <a:avLst/>
          </a:prstGeom>
        </p:spPr>
      </p:pic>
      <p:pic>
        <p:nvPicPr>
          <p:cNvPr id="17" name="Image 4" descr="/home/claude/pbi-mcp-ppt/icons/arrow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2880360"/>
            <a:ext cx="630936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43891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430"/>
                </a:solidFill>
              </a:rPr>
              <a:t>MCP es un estándar abierto que define, de forma estructurada y segura, cómo un asistente de IA descubre y usa herramientas externas — sin él, el modelo solo puede conversar; con él, puede actuar.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</a:rPr>
              <a:t>Power BI Modeling MCP Server — Local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054577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</a:rPr>
              <a:t>Cómo se conecta el MCP local</a:t>
            </a:r>
            <a:endParaRPr lang="en-US" sz="3000" dirty="0"/>
          </a:p>
        </p:txBody>
      </p:sp>
      <p:pic>
        <p:nvPicPr>
          <p:cNvPr id="4" name="Image 0" descr="/home/claude/pbi-mcp-ppt/icons/robo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860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852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Agente IA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3172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</a:rPr>
              <a:t>Copilot / Codex</a:t>
            </a:r>
            <a:endParaRPr lang="en-US" sz="1050" dirty="0"/>
          </a:p>
        </p:txBody>
      </p:sp>
      <p:pic>
        <p:nvPicPr>
          <p:cNvPr id="7" name="Image 1" descr="/home/claude/pbi-mcp-ppt/icons/arrowright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2468880"/>
            <a:ext cx="77724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20440" y="21488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82B4D"/>
          </a:solidFill>
          <a:ln w="12700">
            <a:solidFill>
              <a:srgbClr val="182B4D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9" name="Image 2" descr="/home/claude/pbi-mcp-ppt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233172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2044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MCP Server local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(stdio)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897880" y="2834640"/>
            <a:ext cx="1508760" cy="0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7"/>
          <p:cNvSpPr/>
          <p:nvPr/>
        </p:nvSpPr>
        <p:spPr>
          <a:xfrm>
            <a:off x="6675120" y="278892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3" descr="/home/claude/pbi-mcp-ppt/icons/deskto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16" y="292608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75120" y="34198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430"/>
                </a:solidFill>
              </a:rPr>
              <a:t>Power BI Desktop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897880" y="2834640"/>
            <a:ext cx="3246120" cy="0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0"/>
          <p:cNvSpPr/>
          <p:nvPr/>
        </p:nvSpPr>
        <p:spPr>
          <a:xfrm>
            <a:off x="8412480" y="278892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4" descr="/home/claude/pbi-mcp-ppt/icons/cloud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1976" y="292608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12480" y="34198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430"/>
                </a:solidFill>
              </a:rPr>
              <a:t>Fabric Workspace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5897880" y="2834640"/>
            <a:ext cx="4983480" cy="0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3"/>
          <p:cNvSpPr/>
          <p:nvPr/>
        </p:nvSpPr>
        <p:spPr>
          <a:xfrm>
            <a:off x="10149840" y="278892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1" name="Image 5" descr="/home/claude/pbi-mcp-ppt/icons/folder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9336" y="2926080"/>
            <a:ext cx="384048" cy="3840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149840" y="34198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430"/>
                </a:solidFill>
              </a:rPr>
              <a:t>Carpeta PBIP (TMDL)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822960" y="5074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</a:rPr>
              <a:t>El servidor corre en tu máquina y opera sobre el modelo semántico — no sobre la capa de reporte (páginas, visuales o el diagrama).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</a:rPr>
              <a:t>Power BI Modeling MCP Server — Local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054577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CAPACIDADES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</a:rPr>
              <a:t>Qué SÍ puede hacer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/home/claude/pbi-mcp-ppt/icons/tab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40487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26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Tablas y columnas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</a:rPr>
              <a:t>Crear, actualizar, eliminar, listar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89120" y="214884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9" name="Image 1" descr="/home/claude/pbi-mcp-ppt/icons/calc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40487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2926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Medidas DAX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8912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</a:rPr>
              <a:t>Crear, validar y ejecutar consultas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955280" y="214884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2" descr="/home/claude/pbi-mcp-ppt/icons/sitemap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40487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2926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Relaciones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9552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</a:rPr>
              <a:t>Crear, activar/desactivar, buscar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22960" y="420624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7" name="Image 3" descr="/home/claude/pbi-mcp-ppt/icons/shiel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0280" y="446227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4983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RLS y seguridad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22960" y="5303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</a:rPr>
              <a:t>Roles, permisos, perspectivas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389120" y="420624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1" name="Image 4" descr="/home/claude/pbi-mcp-ppt/icons/languag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4462272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0" y="4983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Traducciones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389120" y="5303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</a:rPr>
              <a:t>Culturas e idiomas del modelo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955280" y="420624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5" name="Image 5" descr="/home/claude/pbi-mcp-ppt/icons/layer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4462272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55280" y="4983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Operaciones masivas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955280" y="5303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</a:rPr>
              <a:t>Transaccionales, con rollback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</a:rPr>
              <a:t>Power BI Modeling MCP Server — Local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054577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EL LÍMITE CLAVE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</a:rPr>
              <a:t>No toca la capa de reporte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4892040" cy="2926080"/>
          </a:xfrm>
          <a:prstGeom prst="roundRect">
            <a:avLst>
              <a:gd name="adj" fmla="val 2500"/>
            </a:avLst>
          </a:prstGeom>
          <a:solidFill>
            <a:srgbClr val="F2F8F4"/>
          </a:solidFill>
          <a:ln w="12700">
            <a:solidFill>
              <a:srgbClr val="CFE7D8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6217920" y="2148840"/>
            <a:ext cx="4892040" cy="2926080"/>
          </a:xfrm>
          <a:prstGeom prst="roundRect">
            <a:avLst>
              <a:gd name="adj" fmla="val 2500"/>
            </a:avLst>
          </a:prstGeom>
          <a:solidFill>
            <a:srgbClr val="FBF0EE"/>
          </a:solidFill>
          <a:ln w="12700">
            <a:solidFill>
              <a:srgbClr val="F0CFC8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/home/claude/pbi-mcp-ppt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4048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423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8B4F"/>
                </a:solidFill>
              </a:rPr>
              <a:t>Modelo semántico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8720" y="30175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1B2430"/>
                </a:solidFill>
              </a:rPr>
              <a:t>Tablas, columnas y medidas DAX</a:t>
            </a:r>
            <a:endParaRPr lang="en-US" sz="1350" dirty="0"/>
          </a:p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1B2430"/>
                </a:solidFill>
              </a:rPr>
              <a:t>Relaciones y jerarquías</a:t>
            </a:r>
            <a:endParaRPr lang="en-US" sz="1350" dirty="0"/>
          </a:p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1B2430"/>
                </a:solidFill>
              </a:rPr>
              <a:t>Roles de seguridad (RLS)</a:t>
            </a:r>
            <a:endParaRPr lang="en-US" sz="1350" dirty="0"/>
          </a:p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1B2430"/>
                </a:solidFill>
              </a:rPr>
              <a:t>Particiones y calculation groups</a:t>
            </a:r>
            <a:endParaRPr lang="en-US" sz="1350" dirty="0"/>
          </a:p>
        </p:txBody>
      </p:sp>
      <p:pic>
        <p:nvPicPr>
          <p:cNvPr id="9" name="Image 1" descr="/home/claude/pbi-mcp-ppt/icons/time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40487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2423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</a:rPr>
              <a:t>Capa de reporte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583680" y="30175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350" dirty="0">
                <a:solidFill>
                  <a:srgbClr val="1B2430"/>
                </a:solidFill>
              </a:rPr>
              <a:t>Páginas y visuales del informe</a:t>
            </a:r>
            <a:endParaRPr lang="en-US" sz="1350" dirty="0"/>
          </a:p>
          <a:p>
            <a:pPr marL="342900" indent="-342900">
              <a:buSzPct val="100000"/>
              <a:buChar char="✗"/>
            </a:pPr>
            <a:r>
              <a:rPr lang="en-US" sz="1350" dirty="0">
                <a:solidFill>
                  <a:srgbClr val="1B2430"/>
                </a:solidFill>
              </a:rPr>
              <a:t>Bookmarks e interacciones</a:t>
            </a:r>
            <a:endParaRPr lang="en-US" sz="1350" dirty="0"/>
          </a:p>
          <a:p>
            <a:pPr marL="342900" indent="-342900">
              <a:buSzPct val="100000"/>
              <a:buChar char="✗"/>
            </a:pPr>
            <a:r>
              <a:rPr lang="en-US" sz="1350" dirty="0">
                <a:solidFill>
                  <a:srgbClr val="1B2430"/>
                </a:solidFill>
              </a:rPr>
              <a:t>Diagrama del modelo (layout)</a:t>
            </a:r>
            <a:endParaRPr lang="en-US" sz="1350" dirty="0"/>
          </a:p>
          <a:p>
            <a:pPr marL="342900" indent="-342900">
              <a:buSzPct val="100000"/>
              <a:buChar char="✗"/>
            </a:pPr>
            <a:r>
              <a:rPr lang="en-US" sz="1350" dirty="0">
                <a:solidFill>
                  <a:srgbClr val="1B2430"/>
                </a:solidFill>
              </a:rPr>
              <a:t>Archivos .pbix binarios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22960" y="5303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675"/>
                </a:solidFill>
              </a:rPr>
              <a:t>Advertencia oficial del README: “el servidor solo puede ejecutar operaciones de modelado; no puede modificar otros metadatos, como páginas de informe o el diagrama del modelo”.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</a:rPr>
              <a:t>Power BI Modeling MCP Server — Local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54577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SUPERFICIE DE HERRAMIENTAS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</a:rPr>
              <a:t>21 tools, agrupadas en 5 categorías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011680" cy="288036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/home/claude/pbi-mcp-ppt/icons/column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4231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1693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0"/>
                </a:solidFill>
              </a:rPr>
              <a:t>Estructura del modelo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35112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675"/>
                </a:solidFill>
              </a:rPr>
              <a:t>Tablas, columnas, relaciones, jerarquías, particiones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852928" y="2148840"/>
            <a:ext cx="2011680" cy="288036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9" name="Image 1" descr="/home/claude/pbi-mcp-ppt/icons/calc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42316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52928" y="291693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0"/>
                </a:solidFill>
              </a:rPr>
              <a:t>Cálculo y DAX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852928" y="35112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675"/>
                </a:solidFill>
              </a:rPr>
              <a:t>Medidas, funciones DAX, queries, calculation groups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065776" y="2148840"/>
            <a:ext cx="2011680" cy="288036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2" descr="/home/claude/pbi-mcp-ppt/icons/shiel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4231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65776" y="291693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0"/>
                </a:solidFill>
              </a:rPr>
              <a:t>Seguridad y gobierno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065776" y="35112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675"/>
                </a:solidFill>
              </a:rPr>
              <a:t>Roles RLS, perspectivas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7278624" y="2148840"/>
            <a:ext cx="2011680" cy="288036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7" name="Image 3" descr="/home/claude/pbi-mcp-ppt/icons/languag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242316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78624" y="291693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0"/>
                </a:solidFill>
              </a:rPr>
              <a:t>Idiomas y documentación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278624" y="35112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675"/>
                </a:solidFill>
              </a:rPr>
              <a:t>Culturas, traducciones, expresiones con nombre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9491472" y="2148840"/>
            <a:ext cx="2011680" cy="288036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1" name="Image 4" descr="/home/claude/pbi-mcp-ppt/icons/gear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5288" y="242316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91472" y="291693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0"/>
                </a:solidFill>
              </a:rPr>
              <a:t>Conexión y transacciones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9491472" y="35112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675"/>
                </a:solidFill>
              </a:rPr>
              <a:t>Connect, database, transacciones, trace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822960" y="5257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</a:rPr>
              <a:t>Fuente: tabla “Available tools” del README oficial (microsoft/powerbi-modeling-mcp).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</a:rPr>
              <a:t>Power BI Modeling MCP Server — Local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54577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CONTROL DE RIESGO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</a:rPr>
              <a:t>Los 3 modos de escritura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EEF2F6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home/claude/pbi-mcp-ppt/icons/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412" y="2377440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--readonly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3429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</a:rPr>
              <a:t>Solo lectura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97280" y="37947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Modo seguro: bloquea cualquier escritura sobre el modelo semántico.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/home/claude/pbi-mcp-ppt/icons/questio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572" y="2377440"/>
            <a:ext cx="585216" cy="585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--readwrite (default)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0" y="3429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</a:rPr>
              <a:t>Lectura/escritura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63440" y="37947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Activado por defecto. Escribe, pero pide confirmación antes del primer cambio.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21031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BF1E4"/>
          </a:solidFill>
          <a:ln w="12700">
            <a:solidFill>
              <a:srgbClr val="EAD2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2" descr="/home/claude/pbi-mcp-ppt/icons/unlock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5732" y="2377440"/>
            <a:ext cx="585216" cy="5852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8160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--skipconfirmation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38160" y="3429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</a:rPr>
              <a:t>Sin confirmación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0" y="37947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Aprueba toda escritura automáticamente. Solo con backup del modelo hecho.</a:t>
            </a:r>
            <a:endParaRPr lang="en-US" sz="1150" dirty="0"/>
          </a:p>
        </p:txBody>
      </p:sp>
      <p:pic>
        <p:nvPicPr>
          <p:cNvPr id="19" name="Image 3" descr="/home/claude/pbi-mcp-ppt/icons/arrow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074920"/>
            <a:ext cx="1037844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" y="5321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5"/>
                </a:solidFill>
              </a:rPr>
              <a:t>Más control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915400" y="5321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675"/>
                </a:solidFill>
              </a:rPr>
              <a:t>Menos control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</a:rPr>
              <a:t>Power BI Modeling MCP Server — Local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54577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PROCESO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</a:rPr>
              <a:t>Flujo de trabajo típico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/home/claude/pbi-mcp-ppt/icons/fold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788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</a:rPr>
              <a:t>1. Conectar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3675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5"/>
                </a:solidFill>
              </a:rPr>
              <a:t>A Desktop, Fabric o PBIP</a:t>
            </a:r>
            <a:endParaRPr lang="en-US" sz="1100" dirty="0"/>
          </a:p>
        </p:txBody>
      </p:sp>
      <p:pic>
        <p:nvPicPr>
          <p:cNvPr id="8" name="Image 1" descr="/home/claude/pbi-mcp-ppt/icons/arrowright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3337560"/>
            <a:ext cx="356616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11880" y="246888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0" name="Image 2" descr="/home/claude/pbi-mcp-ppt/icons/question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7889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11880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</a:rPr>
              <a:t>2. Confirmar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3611880" y="3675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5"/>
                </a:solidFill>
              </a:rPr>
              <a:t>Primera escritura (Elicitation)</a:t>
            </a:r>
            <a:endParaRPr lang="en-US" sz="1100" dirty="0"/>
          </a:p>
        </p:txBody>
      </p:sp>
      <p:pic>
        <p:nvPicPr>
          <p:cNvPr id="13" name="Image 3" descr="/home/claude/pbi-mcp-ppt/icons/arrowright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3337560"/>
            <a:ext cx="356616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00800" y="246888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4" descr="/home/claude/pbi-mcp-ppt/icons/layer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78892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00800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</a:rPr>
              <a:t>3. Ejecutar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400800" y="3675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5"/>
                </a:solidFill>
              </a:rPr>
              <a:t>Operación en transacción</a:t>
            </a:r>
            <a:endParaRPr lang="en-US" sz="1100" dirty="0"/>
          </a:p>
        </p:txBody>
      </p:sp>
      <p:pic>
        <p:nvPicPr>
          <p:cNvPr id="18" name="Image 5" descr="/home/claude/pbi-mcp-ppt/icons/arrowright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3337560"/>
            <a:ext cx="356616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189720" y="246888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0" name="Image 6" descr="/home/claude/pbi-mcp-ppt/icons/check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120" y="2788920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189720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</a:rPr>
              <a:t>4. Cerrar</a:t>
            </a:r>
            <a:endParaRPr lang="en-US" sz="1350" dirty="0"/>
          </a:p>
        </p:txBody>
      </p:sp>
      <p:sp>
        <p:nvSpPr>
          <p:cNvPr id="22" name="Text 13"/>
          <p:cNvSpPr/>
          <p:nvPr/>
        </p:nvSpPr>
        <p:spPr>
          <a:xfrm>
            <a:off x="9189720" y="3675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5"/>
                </a:solidFill>
              </a:rPr>
              <a:t>Commit o rollback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822960" y="4937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</a:rPr>
              <a:t>El servidor soporta el protocolo de Elicitation MCP: pide aprobación antes de la primera modificación y antes de la primera consulta por sesión (salvo --skipconfirmation).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</a:rPr>
              <a:t>Power BI Modeling MCP Server — Local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1054577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INSTALACIÓN · CAMINO RECOMENDADO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</a:rPr>
              <a:t>Visual Studio Code + Copilot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/home/claude/pbi-mcp-ppt/icons/cod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140" y="2606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1. Instalar VS Code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538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5"/>
                </a:solidFill>
              </a:rPr>
              <a:t>code.visualstudio.com</a:t>
            </a:r>
            <a:endParaRPr lang="en-US" sz="1100" dirty="0"/>
          </a:p>
        </p:txBody>
      </p:sp>
      <p:pic>
        <p:nvPicPr>
          <p:cNvPr id="8" name="Image 1" descr="/home/claude/pbi-mcp-ppt/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423160"/>
            <a:ext cx="320040" cy="320040"/>
          </a:xfrm>
          <a:prstGeom prst="rect">
            <a:avLst/>
          </a:prstGeom>
        </p:spPr>
      </p:pic>
      <p:pic>
        <p:nvPicPr>
          <p:cNvPr id="9" name="Image 2" descr="/home/claude/pbi-mcp-ppt/icons/arrowright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664" y="3246120"/>
            <a:ext cx="347472" cy="2743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0" y="228600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3" descr="/home/claude/pbi-mcp-ppt/icons/puzzl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740" y="2606040"/>
            <a:ext cx="502920" cy="5029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2. Extensión Copilot Chat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572000" y="3538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5"/>
                </a:solidFill>
              </a:rPr>
              <a:t>GitHub Copilot Chat</a:t>
            </a:r>
            <a:endParaRPr lang="en-US" sz="1100" dirty="0"/>
          </a:p>
        </p:txBody>
      </p:sp>
      <p:pic>
        <p:nvPicPr>
          <p:cNvPr id="14" name="Image 4" descr="/home/claude/pbi-mcp-ppt/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423160"/>
            <a:ext cx="320040" cy="320040"/>
          </a:xfrm>
          <a:prstGeom prst="rect">
            <a:avLst/>
          </a:prstGeom>
        </p:spPr>
      </p:pic>
      <p:pic>
        <p:nvPicPr>
          <p:cNvPr id="15" name="Image 5" descr="/home/claude/pbi-mcp-ppt/icons/arrowright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4" y="3246120"/>
            <a:ext cx="347472" cy="27432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8229600" y="228600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7" name="Image 6" descr="/home/claude/pbi-mcp-ppt/icons/server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8340" y="2606040"/>
            <a:ext cx="502920" cy="5029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22960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3. Extensión del MCP</a:t>
            </a:r>
            <a:endParaRPr lang="en-US" sz="1400" dirty="0"/>
          </a:p>
        </p:txBody>
      </p:sp>
      <p:sp>
        <p:nvSpPr>
          <p:cNvPr id="19" name="Text 10"/>
          <p:cNvSpPr/>
          <p:nvPr/>
        </p:nvSpPr>
        <p:spPr>
          <a:xfrm>
            <a:off x="8229600" y="3538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5"/>
                </a:solidFill>
              </a:rPr>
              <a:t>Power BI Modeling MCP</a:t>
            </a:r>
            <a:endParaRPr lang="en-US" sz="1100" dirty="0"/>
          </a:p>
        </p:txBody>
      </p:sp>
      <p:pic>
        <p:nvPicPr>
          <p:cNvPr id="20" name="Image 7" descr="/home/claude/pbi-mcp-ppt/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23160"/>
            <a:ext cx="320040" cy="32004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822960" y="4846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Instalador directo: aka.ms/powerbi-modeling-mcp-vscode</a:t>
            </a:r>
            <a:endParaRPr lang="en-US" sz="1300" dirty="0"/>
          </a:p>
        </p:txBody>
      </p:sp>
      <p:sp>
        <p:nvSpPr>
          <p:cNvPr id="22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</a:rPr>
              <a:t>Power BI Modeling MCP Server — Local</a:t>
            </a:r>
            <a:endParaRPr lang="en-US" sz="900" dirty="0"/>
          </a:p>
        </p:txBody>
      </p:sp>
      <p:sp>
        <p:nvSpPr>
          <p:cNvPr id="23" name="Text 13"/>
          <p:cNvSpPr/>
          <p:nvPr/>
        </p:nvSpPr>
        <p:spPr>
          <a:xfrm>
            <a:off x="1054577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INSTALACIÓN · OTROS CLIENTES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</a:rPr>
              <a:t>Manual / Codex CLI (vía npx)</a:t>
            </a:r>
            <a:endParaRPr lang="en-US" sz="3000" dirty="0"/>
          </a:p>
        </p:txBody>
      </p:sp>
      <p:pic>
        <p:nvPicPr>
          <p:cNvPr id="4" name="Image 0" descr="/home/claude/pbi-mcp-ppt/icons/terminal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34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60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75"/>
                </a:solidFill>
              </a:rPr>
              <a:t>Node.js 20+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675"/>
                </a:solidFill>
              </a:rPr>
              <a:t>requerido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0" y="2148840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182B4D"/>
          </a:solidFill>
          <a:ln w="12700">
            <a:solidFill>
              <a:srgbClr val="182B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3063240" y="2331720"/>
            <a:ext cx="7589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"powerbi-modeling-mcp":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"stdio",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 "npx",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"args": [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"-y",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"@microsoft/powerbi-modeling-mcp@latest",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"--start"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675"/>
                </a:solidFill>
              </a:rPr>
              <a:t>Para Codex CLI: registra este mismo bloque en ~/.codex/config.toml (o vía "codex mcp add").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</a:rPr>
              <a:t>Power BI Modeling MCP Server — Local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4577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CONSIDERACIONES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</a:rPr>
              <a:t>Seguridad y gobernanza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/home/claude/pbi-mcp-ppt/icons/key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514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Credenciales locales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4015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Gestionadas vía Azure Identity SDK; el servidor nunca las almacena directamente.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26280" y="219456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9" name="Image 1" descr="/home/claude/pbi-mcp-ppt/icons/cloudai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5146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628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Datos hacia el LLM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26280" y="34015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Metadatos y resultados de consulta viajan al cliente MCP y de ahí al proveedor de IA configurado.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0" y="219456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2" descr="/home/claude/pbi-mcp-ppt/icons/warning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2514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Preview pública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29600" y="34015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Herramientas y comportamiento pueden cambiar de forma significativa antes de la disponibilidad general.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</a:rPr>
              <a:t>Power BI Modeling MCP Server — Local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054577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EN LA PRÁCTICA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</a:rPr>
              <a:t>Casos de uso reales (del propio README)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/home/claude/pbi-mcp-ppt/icons/handshak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4048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350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Renombrado masivo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91640" y="2715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Analizar la convención de nombres de una tabla y aplicarla a todo el modelo.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9" name="Image 1" descr="/home/claude/pbi-mcp-ppt/icons/languag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40487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2350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Traducción de modelo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995160" y="2715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Generar traducción completa: tablas, columnas y medidas.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402336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2" descr="/home/claude/pbi-mcp-ppt/icons/boo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27939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224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Documentación automática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691640" y="45902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Markdown con diagrama Mermaid y lógica DAX en lenguaje de negocio.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26480" y="402336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7F9FA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8C97A6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7" name="Image 3" descr="/home/claude/pbi-mcp-ppt/icons/layer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427939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4224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Refactor a Calculation Groups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995160" y="45902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Convertir medidas sueltas en variantes reutilizables (ej. 12M, 6M, 3M).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</a:rPr>
              <a:t>Power BI Modeling MCP Server — Local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054577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8C8C"/>
                </a:solidFill>
              </a:rPr>
              <a:t>FUENTES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Fuentes oficiales</a:t>
            </a:r>
            <a:endParaRPr lang="en-US" sz="3200" dirty="0"/>
          </a:p>
        </p:txBody>
      </p:sp>
      <p:pic>
        <p:nvPicPr>
          <p:cNvPr id="4" name="Image 0" descr="/home/claude/pbi-mcp-ppt/icons/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7249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Microsoft Learn — Información general sobre los servidores MCP de Power BI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30632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learn.microsoft.com/es-es/power-bi/developer/mcp/mcp-servers-overview</a:t>
            </a:r>
            <a:endParaRPr lang="en-US" sz="1300" dirty="0"/>
          </a:p>
        </p:txBody>
      </p:sp>
      <p:pic>
        <p:nvPicPr>
          <p:cNvPr id="7" name="Image 1" descr="/home/claude/pbi-mcp-ppt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319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9136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GitHub — Repositorio oficial y documentación operativa (README)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88720" y="42519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github.com/microsoft/powerbi-modeling-mcp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5943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8BA5"/>
                </a:solidFill>
              </a:rPr>
              <a:t>Contenido preparado a partir de documentación pública de Microsoft, consultada en julio de 2026. El servidor se encuentra en Public Preview.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Microsoft Office PowerPoint</Application>
  <PresentationFormat>Panorámica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vicente antonio juan magallanes</cp:lastModifiedBy>
  <cp:revision>2</cp:revision>
  <dcterms:created xsi:type="dcterms:W3CDTF">2026-07-23T17:41:43Z</dcterms:created>
  <dcterms:modified xsi:type="dcterms:W3CDTF">2026-07-24T18:34:36Z</dcterms:modified>
</cp:coreProperties>
</file>